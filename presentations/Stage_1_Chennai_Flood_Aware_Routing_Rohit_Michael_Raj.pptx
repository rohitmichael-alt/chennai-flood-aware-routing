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Welcome Ma'am. This presentation covers Stage 1 of my project on Flood-Aware Dynamic Traffic Routing for Chennai.</a:t>
            </a:r>
          </a:p>
          <a:p>
            <a:r>
              <a:t>• My name is Rohit Michael Raj, Reg No 24BCE5108.</a:t>
            </a:r>
          </a:p>
          <a:p>
            <a:r>
              <a:t>• Stage 1 establishes the core algorithmic proof of concept: mapping real flood points to OSM edges and observing Dijkstra rerouting.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Explain why static routing fails during Chennai floods.</a:t>
            </a:r>
          </a:p>
          <a:p>
            <a:r>
              <a:t>• Emphasize that our project uses a capacity degradation model (BPR) rather than arbitrary penalty numbers.</a:t>
            </a:r>
          </a:p>
          <a:p>
            <a:r>
              <a:t>• This keeps the routing engine grounded in transport engineering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This slide presents the exact 6-step workflow diagram implemented in Stage 1.</a:t>
            </a:r>
          </a:p>
          <a:p>
            <a:r>
              <a:t>• Highlight that spatial coordinate projection (EPSG:32644) is applied so spatial distance matching is metric and accurate.</a:t>
            </a:r>
          </a:p>
          <a:p>
            <a:r>
              <a:t>• Emphasize how the output of BPR feeds directly into Dijkstra.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Detail the three data factors considered in Stage 1.</a:t>
            </a:r>
          </a:p>
          <a:p>
            <a:r>
              <a:t>• Note that OpenStreetMap gives us real Chennai road geometry.</a:t>
            </a:r>
          </a:p>
          <a:p>
            <a:r>
              <a:t>• Note that OpenCity provides 327 real flood points from 2015.</a:t>
            </a:r>
          </a:p>
          <a:p>
            <a:r>
              <a:t>• Highlight the CRS projection step to UTM Zone 44N, which guarantees exact metric meter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Explain the BPR formula parameters.</a:t>
            </a:r>
          </a:p>
          <a:p>
            <a:r>
              <a:t>• Emphasize how effective capacity C_eff connects physical flood states to mathematical routing costs.</a:t>
            </a:r>
          </a:p>
          <a:p>
            <a:r>
              <a:t>• Point out that in Stage 1, the affected test edge is set to BLOCKED state to demonstrate clean Dijkstra detour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Point to the generated map image on the left.</a:t>
            </a:r>
          </a:p>
          <a:p>
            <a:r>
              <a:t>• Highlight the numbers: 327 flood points loaded, 15 affected edges found.</a:t>
            </a:r>
          </a:p>
          <a:p>
            <a:r>
              <a:t>• Before disruption: direct route takes 14.63 seconds.</a:t>
            </a:r>
          </a:p>
          <a:p>
            <a:r>
              <a:t>• After disruption: Dijkstra detours around Kannan Street, taking 34.61 seconds across 9 nodes.</a:t>
            </a:r>
          </a:p>
          <a:p>
            <a:r>
              <a:t>• This proves the algorithm works dynamically!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Explain that the codebase is modularly structured in src/chennai_routing.</a:t>
            </a:r>
          </a:p>
          <a:p>
            <a:r>
              <a:t>• Highlight that all 6 pytest automated unit tests pass successfully.</a:t>
            </a:r>
          </a:p>
          <a:p>
            <a:r>
              <a:t>• Emphasize that all output tables and map images are generated reproducibly via scripts/run_stage1_poc.py.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Clearly explain model boundaries to Ma'am/evaluators.</a:t>
            </a:r>
          </a:p>
          <a:p>
            <a:r>
              <a:t>• Emphasize academic honesty: we do not claim to have built a live flood predictor in Stage 1.</a:t>
            </a:r>
          </a:p>
          <a:p>
            <a:r>
              <a:t>• Stage 1 is a controlled, reproducible proof of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Summarize Stage 1 accomplishments: 100% complete and verified.</a:t>
            </a:r>
          </a:p>
          <a:p>
            <a:r>
              <a:t>• Present the immediate next milestone: Stage 2 (Robust Chennai Road Graph).</a:t>
            </a:r>
          </a:p>
          <a:p>
            <a:r>
              <a:t>• Conclude Stage 1 deck and open for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86600" y="0"/>
            <a:ext cx="9144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Chennai Flood-Aware</a:t>
            </a:r>
            <a:br/>
            <a:r>
              <a:t>Dynamic Traffic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384048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STAGE 1 PROOF OF CONCEPT — 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5669280" cy="164592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STUDENT PRESENTER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Rohit Michael Raj</a:t>
            </a:r>
          </a:p>
          <a:p>
            <a:pPr>
              <a:defRPr sz="1500">
                <a:solidFill>
                  <a:srgbClr val="CBD5E1"/>
                </a:solidFill>
                <a:latin typeface="Calibri"/>
              </a:defRPr>
            </a:pPr>
            <a:r>
              <a:t>Register No: 24BCE5108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097280"/>
            <a:ext cx="393192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0" y="1280160"/>
            <a:ext cx="356616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Stage 1 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01168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• Core Goal: </a:t>
            </a:r>
            <a:r>
              <a:rPr sz="1200">
                <a:solidFill>
                  <a:srgbClr val="0F172A"/>
                </a:solidFill>
              </a:rPr>
              <a:t>Validate data pipeline from historical flood points to Dijkstra route change.</a:t>
            </a:r>
          </a:p>
          <a:p>
            <a:r>
              <a:rPr b="1" sz="1300">
                <a:solidFill>
                  <a:srgbClr val="2563EB"/>
                </a:solidFill>
              </a:rPr>
              <a:t>• Data Fusion: </a:t>
            </a:r>
            <a:r>
              <a:rPr sz="1200">
                <a:solidFill>
                  <a:srgbClr val="0F172A"/>
                </a:solidFill>
              </a:rPr>
              <a:t>OpenStreetMap road graph fused with OpenCity 2015 Chennai flood hotspots.</a:t>
            </a:r>
          </a:p>
          <a:p>
            <a:r>
              <a:rPr b="1" sz="1300">
                <a:solidFill>
                  <a:srgbClr val="2563EB"/>
                </a:solidFill>
              </a:rPr>
              <a:t>• Disruption Model: </a:t>
            </a:r>
            <a:r>
              <a:rPr sz="1200">
                <a:solidFill>
                  <a:srgbClr val="0F172A"/>
                </a:solidFill>
              </a:rPr>
              <a:t>Nearest-edge spatial mapping with BPR capacity degradation model.</a:t>
            </a:r>
          </a:p>
          <a:p>
            <a:r>
              <a:rPr b="1" sz="1300">
                <a:solidFill>
                  <a:srgbClr val="2563EB"/>
                </a:solidFill>
              </a:rPr>
              <a:t>• Key Result: </a:t>
            </a:r>
            <a:r>
              <a:rPr sz="1200">
                <a:solidFill>
                  <a:srgbClr val="0F172A"/>
                </a:solidFill>
              </a:rPr>
              <a:t>Dijkstra rerouted travel time from 14.63s (direct) to 34.61s (detour).</a:t>
            </a:r>
          </a:p>
          <a:p>
            <a:r>
              <a:rPr b="1" sz="1300">
                <a:solidFill>
                  <a:srgbClr val="2563EB"/>
                </a:solidFill>
              </a:rPr>
              <a:t>• Validation: </a:t>
            </a:r>
            <a:r>
              <a:rPr sz="1200">
                <a:solidFill>
                  <a:srgbClr val="0F172A"/>
                </a:solidFill>
              </a:rPr>
              <a:t>6 unit tests passed; reproducible execution scripts 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1. Background &amp; Motivation: Chennai Flood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Monsoon waterlogging collapses effective urban road 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Stage 1 POC | Slide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3328416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Static Routing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Standard GPS engines (static Dijkstra/A*) assume nominal free-flow speeds regardless of weather.</a:t>
            </a:r>
            <a:br/>
            <a:br/>
            <a:r>
              <a:t>• During Chennai monsoons, severe waterlogging physically blocks or slows traffic on key corridors.</a:t>
            </a:r>
            <a:br/>
            <a:br/>
            <a:r>
              <a:t>• Drivers using static navigation are routed directly into submerged bottlenecks.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28016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25696" y="1280160"/>
            <a:ext cx="3328416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Capacity Degradation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96596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Rather than adding arbitrary manual penalties, flooding is modeled as a reduction in effective road capacity (C_eff).</a:t>
            </a:r>
            <a:br/>
            <a:br/>
            <a:r>
              <a:t>• As effective capacity drops, the Bureau of Public Roads (BPR) function exponentially inflates travel time.</a:t>
            </a:r>
            <a:br/>
            <a:br/>
            <a:r>
              <a:t>• Provides a scientifically grounded transport engineering baseline.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28016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9872" y="1280160"/>
            <a:ext cx="3328416" cy="5486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Dynamic Flood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96596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Dynamically updates edge weights in response to mapped flood disruption.</a:t>
            </a:r>
            <a:br/>
            <a:br/>
            <a:r>
              <a:t>• Dijkstra recalculates optimal routes before vehicles enter flooded segments.</a:t>
            </a:r>
            <a:br/>
            <a:br/>
            <a:r>
              <a:t>• Stage 1 proves this end-to-end chain on a real Chennai historical flood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2. Stage 1 End-to-End Workflow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Complete pipeline from geospatial data ingestion to dynamic route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Stage 1 POC | Slide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15727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572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1. Data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84832"/>
            <a:ext cx="128016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Download OSM road network &amp; OpenCity flood KML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31720" y="2240280"/>
            <a:ext cx="18288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70048" y="1572768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1572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2. Flood Parsing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2084832"/>
            <a:ext cx="128016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Parse 327 KML flood point coordinates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60520" y="2240280"/>
            <a:ext cx="182880" cy="3657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98848" y="1572768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1572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3. Spatial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084832"/>
            <a:ext cx="128016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Map points to nearest road edge within 150m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9320" y="2240280"/>
            <a:ext cx="182880" cy="36576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27648" y="1572768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1572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4. Road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084832"/>
            <a:ext cx="128016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Assign state (BLOCKED / Degraded / Normal)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18120" y="2240280"/>
            <a:ext cx="182880" cy="36576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56448" y="1572768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1572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5. BPR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2084832"/>
            <a:ext cx="128016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Calculate effective capacity &amp; travel time cost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46920" y="2240280"/>
            <a:ext cx="182880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755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85248" y="1572768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05872" y="1572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6. Dijkstra Route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2084832"/>
            <a:ext cx="128016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Execute dynamic dynamic route selection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749039"/>
            <a:ext cx="10728655" cy="2377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DETAILED ALGORITHMIC SUB-MODULES IN STAGE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251960"/>
            <a:ext cx="32918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3434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Segoe UI"/>
              </a:defRPr>
            </a:pPr>
            <a:r>
              <a:t>Geospatial &amp; CRS Handler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OSMnx extracts driving network.</a:t>
            </a:r>
            <a:br/>
            <a:r>
              <a:t>• GeoPandas converts WGS84 (EPSG:4326) to Metric UTM 44N (EPSG:32644) for safe metric distance calculation.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80560" y="4251960"/>
            <a:ext cx="32918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43434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Segoe UI"/>
              </a:defRPr>
            </a:pPr>
            <a:r>
              <a:t>Capacity &amp; BPR Modeller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Normal capacity = 1200 veh/hr.</a:t>
            </a:r>
            <a:br/>
            <a:r>
              <a:t>• Disrupted edge capacity = 0 (BLOCKED).</a:t>
            </a:r>
            <a:br/>
            <a:r>
              <a:t>• BPR cost becomes infinite/unavailable for blocked road segment.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4251960"/>
            <a:ext cx="32918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3434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Dynamic Dijkstra Routing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Runs Baseline Dijkstra on initial graph.</a:t>
            </a:r>
            <a:br/>
            <a:r>
              <a:t>• Refreshes edge weight matrix.</a:t>
            </a:r>
            <a:br/>
            <a:r>
              <a:t>• Runs Disrupted Dijkstra to pick optimal detour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3. Factors Considered: Data Sources &amp; Spatial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Rigorous integration of open road graphs and historical flood hotspots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DATA FACTORS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Stage 1 POC | Slide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120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FACTOR 1: Road Network Data (OpenStreetMap)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Downloaded via OSMnx Python library for a target Chennai bounding box (North Chennai hotspot area).</a:t>
            </a:r>
            <a:br/>
            <a:r>
              <a:t>• Preserves edge attributes: length, geometry, highway class, and speed limits.</a:t>
            </a:r>
            <a:br/>
            <a:r>
              <a:t>• Graph structural integrity validated before routing.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12064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12064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FACTOR 2: Historical Flood Hotspots (OpenCity)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Dataset: OpenCity Chennai 2015 GCC Area Flood Hotspots (Public Domain KML).</a:t>
            </a:r>
            <a:br/>
            <a:r>
              <a:t>• Parsed 327 point features corresponding to verified historical waterlogging sites.</a:t>
            </a:r>
            <a:br/>
            <a:r>
              <a:t>• Strictly classified as HISTORICAL evidence, not live flood telemetry.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280160"/>
            <a:ext cx="530352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280160"/>
            <a:ext cx="530352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FACTOR 3: Spatial Nearest-Neighbor Road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74519"/>
            <a:ext cx="493775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D9488"/>
                </a:solidFill>
              </a:rPr>
              <a:t>• Metric Projection: </a:t>
            </a:r>
            <a:r>
              <a:rPr sz="1100">
                <a:solidFill>
                  <a:srgbClr val="0F172A"/>
                </a:solidFill>
              </a:rPr>
              <a:t>Raw WGS84 geographic coordinates (latitude/longitude) cannot be accurately matched using Euclidean distance. Projected to EPSG:32644 (UTM Zone 44N) for metric accuracy.
</a:t>
            </a:r>
          </a:p>
          <a:p>
            <a:r>
              <a:rPr b="1" sz="1200">
                <a:solidFill>
                  <a:srgbClr val="0D9488"/>
                </a:solidFill>
              </a:rPr>
              <a:t>• Spatial Buffer Threshold: </a:t>
            </a:r>
            <a:r>
              <a:rPr sz="1100">
                <a:solidFill>
                  <a:srgbClr val="0F172A"/>
                </a:solidFill>
              </a:rPr>
              <a:t>A strict 150-meter metric threshold buffer is applied. Flood points farther than 150m from any road edge are ignored to prevent false matches.
</a:t>
            </a:r>
          </a:p>
          <a:p>
            <a:r>
              <a:rPr b="1" sz="1200">
                <a:solidFill>
                  <a:srgbClr val="0D9488"/>
                </a:solidFill>
              </a:rPr>
              <a:t>• Affected Edge Identification: </a:t>
            </a:r>
            <a:r>
              <a:rPr sz="1100">
                <a:solidFill>
                  <a:srgbClr val="0F172A"/>
                </a:solidFill>
              </a:rPr>
              <a:t>The mapping pipeline identified 15 affected road directions matching flood hotspots in the demonstration bounding box.
</a:t>
            </a:r>
          </a:p>
          <a:p>
            <a:r>
              <a:rPr b="1" sz="1200">
                <a:solidFill>
                  <a:srgbClr val="0D9488"/>
                </a:solidFill>
              </a:rPr>
              <a:t>• Controlled Disruption Selection: </a:t>
            </a:r>
            <a:r>
              <a:rPr sz="1100">
                <a:solidFill>
                  <a:srgbClr val="0F172A"/>
                </a:solidFill>
              </a:rPr>
              <a:t>Selected real mapped edge (9992430988, 9992430963) along Kannan Street for controlled Stage 1 routing experiment.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4. Capacity Degradation &amp; Travel-Time Cost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Formulating road waterlogging into BPR dynamic edge costs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MATHEMATICAL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Stage 1 POC | Slide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146304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BUREAU OF PUBLIC ROADS (BPR) TRAVEL-TIME EQUATION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 = t_0 * [ 1 + alpha * ( V / C_eff )^beta ]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Where: t_0 = free-flow travel time (length / speed), V = traffic volume, C_eff = effective degraded capacity, alpha = 0.15, beta = 4.0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251460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251460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NORMAL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C_eff = 1.0 * C_0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100% Nominal Capacity</a:t>
            </a:r>
          </a:p>
          <a:p>
            <a:br/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Travel time equals free-flow baseline with minimal congestion delay.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2926080"/>
            <a:ext cx="251460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65576" y="2926080"/>
            <a:ext cx="251460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DEGRADED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342900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Segoe UI"/>
              </a:defRPr>
            </a:pPr>
            <a:r>
              <a:t>C_eff = 0.5 * C_0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50% Capacity Reduction</a:t>
            </a:r>
          </a:p>
          <a:p>
            <a:br/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Minor waterlogging. BPR travel time inflates significantly due to volume ratio.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926080"/>
            <a:ext cx="251460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9632" y="2926080"/>
            <a:ext cx="251460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SEVERE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42900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C_eff = 0.1 * C_0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90% Capacity Reduction</a:t>
            </a:r>
          </a:p>
          <a:p>
            <a:br/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Deep standing water. BPR travel time skyrockets, discouraging route entry.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688" y="2926080"/>
            <a:ext cx="251460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33688" y="2926080"/>
            <a:ext cx="25146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BLOCKED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342900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egoe UI"/>
              </a:defRPr>
            </a:pPr>
            <a:r>
              <a:t>C_eff = 0.0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0% Capacity (Excluded)</a:t>
            </a:r>
          </a:p>
          <a:p>
            <a:br/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Complete road submergence. Edge cost becomes infinite; Dijkstra excludes edge.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5. Stage 1 Demonstration Results &amp; Map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Visual proof of Dijkstra route switching after road disruption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EMPIRICAL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Stage 1 POC | Slide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669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age1_before_after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548640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0" y="1280160"/>
            <a:ext cx="24688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371600"/>
            <a:ext cx="2286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463039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7C3AED"/>
                </a:solidFill>
                <a:latin typeface="Segoe UI"/>
              </a:defRPr>
            </a:pPr>
            <a:r>
              <a:t>327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2286000" cy="502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Flood Hotspot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80160"/>
            <a:ext cx="231617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1332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39"/>
            <a:ext cx="2133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011680"/>
            <a:ext cx="2133295" cy="502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Affected Road Edges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697480"/>
            <a:ext cx="24688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2788920"/>
            <a:ext cx="22860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8803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6A34A"/>
                </a:solidFill>
                <a:latin typeface="Segoe UI"/>
              </a:defRPr>
            </a:pPr>
            <a:r>
              <a:t>14.63s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29000"/>
            <a:ext cx="2286000" cy="502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Before Route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697480"/>
            <a:ext cx="231617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2788920"/>
            <a:ext cx="21332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880360"/>
            <a:ext cx="2133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DC2626"/>
                </a:solidFill>
                <a:latin typeface="Segoe UI"/>
              </a:defRPr>
            </a:pPr>
            <a:r>
              <a:t>34.61s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429000"/>
            <a:ext cx="2133295" cy="502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After Detour Cost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114800"/>
            <a:ext cx="4876495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206240"/>
            <a:ext cx="46021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563EB"/>
                </a:solidFill>
              </a:rPr>
              <a:t>• Target Disrupted Edge: </a:t>
            </a:r>
            <a:r>
              <a:rPr sz="1100">
                <a:solidFill>
                  <a:srgbClr val="0F172A"/>
                </a:solidFill>
              </a:rPr>
              <a:t>Kannan Street segment (9992430988, 9992430963).</a:t>
            </a:r>
          </a:p>
          <a:p>
            <a:r>
              <a:rPr b="1" sz="1150">
                <a:solidFill>
                  <a:srgbClr val="2563EB"/>
                </a:solidFill>
              </a:rPr>
              <a:t>• Before Route Path: </a:t>
            </a:r>
            <a:r>
              <a:rPr sz="1100">
                <a:solidFill>
                  <a:srgbClr val="0F172A"/>
                </a:solidFill>
              </a:rPr>
              <a:t>Direct single-edge traversal (Nodes: 9992430988 -&gt; 9992430963).</a:t>
            </a:r>
          </a:p>
          <a:p>
            <a:r>
              <a:rPr b="1" sz="1150">
                <a:solidFill>
                  <a:srgbClr val="2563EB"/>
                </a:solidFill>
              </a:rPr>
              <a:t>• After Route Detour: </a:t>
            </a:r>
            <a:r>
              <a:rPr sz="1100">
                <a:solidFill>
                  <a:srgbClr val="0F172A"/>
                </a:solidFill>
              </a:rPr>
              <a:t>9-node alternate path via surrounding unflooded local streets.</a:t>
            </a:r>
          </a:p>
          <a:p>
            <a:r>
              <a:rPr b="1" sz="1150">
                <a:solidFill>
                  <a:srgbClr val="2563EB"/>
                </a:solidFill>
              </a:rPr>
              <a:t>• Routing Outcome: </a:t>
            </a:r>
            <a:r>
              <a:rPr sz="1100">
                <a:solidFill>
                  <a:srgbClr val="0F172A"/>
                </a:solidFill>
              </a:rPr>
              <a:t>Dijkstra successfully avoids blocked edge and finds minimal travel-time detour.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6. Code Architecture, Artifacts &amp; Test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Clean modular repository design supported by automated unit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Stage 1 POC | Slide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3328416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Modular Code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src/chennai_routing/data/</a:t>
            </a:r>
            <a:br/>
            <a:r>
              <a:t>  - flood.py: KML parser &amp; downloader</a:t>
            </a:r>
            <a:br/>
            <a:r>
              <a:t>  - osm.py: OSMnx road graph loader</a:t>
            </a:r>
            <a:br/>
            <a:br/>
            <a:r>
              <a:t>• src/chennai_routing/preprocessing/</a:t>
            </a:r>
            <a:br/>
            <a:r>
              <a:t>  - geospatial.py: CRS &amp; KDTree mapper</a:t>
            </a:r>
            <a:br/>
            <a:br/>
            <a:r>
              <a:t>• src/chennai_routing/models/</a:t>
            </a:r>
            <a:br/>
            <a:r>
              <a:t>  - capacity.py: Road state multipliers</a:t>
            </a:r>
            <a:br/>
            <a:r>
              <a:t>  - bpr.py: BPR cost function engine</a:t>
            </a:r>
            <a:br/>
            <a:br/>
            <a:r>
              <a:t>• src/chennai_routing/routing/</a:t>
            </a:r>
            <a:br/>
            <a:r>
              <a:t>  - dijkstra.py: Dynamic shortest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28016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25696" y="1280160"/>
            <a:ext cx="3328416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Generated Output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874519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outputs/tables/stage1_affected_roads.csv</a:t>
            </a:r>
            <a:br/>
            <a:r>
              <a:t>  Contains list of all 15 mapped affected edge IDs and coordinates.</a:t>
            </a:r>
            <a:br/>
            <a:br/>
            <a:r>
              <a:t>• outputs/tables/stage1_route_summary.csv</a:t>
            </a:r>
            <a:br/>
            <a:r>
              <a:t>  Before vs after route node sequences &amp; travel-time costs.</a:t>
            </a:r>
            <a:br/>
            <a:br/>
            <a:r>
              <a:t>• outputs/tables/stage1_summary.json</a:t>
            </a:r>
            <a:br/>
            <a:r>
              <a:t>  Machine-readable execution metrics.</a:t>
            </a:r>
            <a:br/>
            <a:br/>
            <a:r>
              <a:t>• outputs/maps/stage1_before_after_route.png</a:t>
            </a:r>
            <a:br/>
            <a:r>
              <a:t>  High-resolution route comparison map.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280160"/>
            <a:ext cx="3328416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9872" y="1280160"/>
            <a:ext cx="3328416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Automated Test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1828800"/>
            <a:ext cx="32369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Segoe UI"/>
              </a:defRPr>
            </a:pPr>
            <a:r>
              <a:t>6 / 6 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606040"/>
            <a:ext cx="305409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Pytest suite verifies:</a:t>
            </a:r>
            <a:br/>
            <a:br/>
            <a:r>
              <a:t>1. CRS Mismatch Protection</a:t>
            </a:r>
            <a:br/>
            <a:r>
              <a:t>2. Spatial Nearest Edge Mapping</a:t>
            </a:r>
            <a:br/>
            <a:r>
              <a:t>3. BPR Capacity Degradation</a:t>
            </a:r>
            <a:br/>
            <a:r>
              <a:t>4. Blocked Edge Exclusion</a:t>
            </a:r>
            <a:br/>
            <a:r>
              <a:t>5. Synthetic Graph Route Switching</a:t>
            </a:r>
            <a:br/>
            <a:r>
              <a:t>6. Repository File Structure Integrity</a:t>
            </a:r>
            <a:br/>
            <a:br/>
            <a:r>
              <a:t>Verified command:</a:t>
            </a:r>
            <a:br/>
            <a:r>
              <a:t>pytest tests/test_stage1_poc.py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7. Model Assumptions &amp; Honest Scope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Maintaining academic honesty regarding proof-of-concept assumptions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SCOPE 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Stage 1 POC | Slide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80160"/>
            <a:ext cx="137160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37160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Segoe UI"/>
              </a:defRPr>
            </a:pPr>
            <a:r>
              <a:t>1. Historical Evidence vs Live Telemetry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The flood dataset consists of 2015 historical hotspot points from OpenCity. It represents historical vulnerability evidence, not live real-time flood sensor feeds.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1072865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514600"/>
            <a:ext cx="13716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0604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2. Controlled Stage 1 Disruption Demo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The selected mapped edge was marked BLOCKED strictly for a controlled proof-of-concept experiment to demonstrate Dijkstra route switching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13716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79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egoe UI"/>
              </a:defRPr>
            </a:pPr>
            <a:r>
              <a:t>3. Model Parameters vs Calibrated Constants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Traffic volume (V=600) and capacity (C=1200) are initial transport model parameters, not physically calibrated sensor measurements.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79"/>
            <a:ext cx="1072865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983479"/>
            <a:ext cx="137160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74919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4. Default Speed Fallback Handling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Road segments missing speed limit attributes in OpenStreetMap default to a visible 30 km/h baseline fallback.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8. Stage 1 Summary &amp; Transition to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Key deliverables achieved and immediate next roadmap milestone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Stage 1 POC | Slide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12064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12064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STAGE 1 DELIVERABLES ACHIEVED (DONE)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✓ </a:t>
            </a:r>
            <a:r>
              <a:rPr sz="1150">
                <a:solidFill>
                  <a:srgbClr val="0F172A"/>
                </a:solidFill>
              </a:rPr>
              <a:t>Downloaded real OpenStreetMap Chennai road graph via OSMnx.
</a:t>
            </a:r>
          </a:p>
          <a:p>
            <a:r>
              <a:rPr b="1" sz="1300">
                <a:solidFill>
                  <a:srgbClr val="16A34A"/>
                </a:solidFill>
              </a:rPr>
              <a:t>✓ </a:t>
            </a:r>
            <a:r>
              <a:rPr sz="1150">
                <a:solidFill>
                  <a:srgbClr val="0F172A"/>
                </a:solidFill>
              </a:rPr>
              <a:t>Ingested real OpenCity 2015 historical flood hotspots KML.
</a:t>
            </a:r>
          </a:p>
          <a:p>
            <a:r>
              <a:rPr b="1" sz="1300">
                <a:solidFill>
                  <a:srgbClr val="16A34A"/>
                </a:solidFill>
              </a:rPr>
              <a:t>✓ </a:t>
            </a:r>
            <a:r>
              <a:rPr sz="1150">
                <a:solidFill>
                  <a:srgbClr val="0F172A"/>
                </a:solidFill>
              </a:rPr>
              <a:t>Implemented CRS-safe metric projection &amp; nearest-edge mapping.
</a:t>
            </a:r>
          </a:p>
          <a:p>
            <a:r>
              <a:rPr b="1" sz="1300">
                <a:solidFill>
                  <a:srgbClr val="16A34A"/>
                </a:solidFill>
              </a:rPr>
              <a:t>✓ </a:t>
            </a:r>
            <a:r>
              <a:rPr sz="1150">
                <a:solidFill>
                  <a:srgbClr val="0F172A"/>
                </a:solidFill>
              </a:rPr>
              <a:t>Built capacity degradation model &amp; BPR travel-time engine.
</a:t>
            </a:r>
          </a:p>
          <a:p>
            <a:r>
              <a:rPr b="1" sz="1300">
                <a:solidFill>
                  <a:srgbClr val="16A34A"/>
                </a:solidFill>
              </a:rPr>
              <a:t>✓ </a:t>
            </a:r>
            <a:r>
              <a:rPr sz="1150">
                <a:solidFill>
                  <a:srgbClr val="0F172A"/>
                </a:solidFill>
              </a:rPr>
              <a:t>Verified dynamic Dijkstra route switching (14.6s -&gt; 34.6s).
</a:t>
            </a:r>
          </a:p>
          <a:p>
            <a:r>
              <a:rPr b="1" sz="1300">
                <a:solidFill>
                  <a:srgbClr val="16A34A"/>
                </a:solidFill>
              </a:rPr>
              <a:t>✓ </a:t>
            </a:r>
            <a:r>
              <a:rPr sz="1150">
                <a:solidFill>
                  <a:srgbClr val="0F172A"/>
                </a:solidFill>
              </a:rPr>
              <a:t>Passed 6/6 automated pytest unit tests reproducibly.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280160"/>
            <a:ext cx="5333695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280160"/>
            <a:ext cx="5333695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IMMEDIATE NEXT MILESTONE: 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874519"/>
            <a:ext cx="505937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563EB"/>
                </a:solidFill>
              </a:rPr>
              <a:t>• Robust Chennai Road Graph Module: </a:t>
            </a:r>
            <a:r>
              <a:rPr sz="1100">
                <a:solidFill>
                  <a:srgbClr val="0F172A"/>
                </a:solidFill>
              </a:rPr>
              <a:t>Expand bounding box coverage to major Chennai arterial corridors with enhanced edge attribute parsing.
</a:t>
            </a:r>
          </a:p>
          <a:p>
            <a:r>
              <a:rPr b="1" sz="1200">
                <a:solidFill>
                  <a:srgbClr val="2563EB"/>
                </a:solidFill>
              </a:rPr>
              <a:t>• Clean Functional Class Hierarchy: </a:t>
            </a:r>
            <a:r>
              <a:rPr sz="1100">
                <a:solidFill>
                  <a:srgbClr val="0F172A"/>
                </a:solidFill>
              </a:rPr>
              <a:t>Categorize roads (Primary, Secondary, Residential) and parse explicit free-flow speeds.
</a:t>
            </a:r>
          </a:p>
          <a:p>
            <a:r>
              <a:rPr b="1" sz="1200">
                <a:solidFill>
                  <a:srgbClr val="2563EB"/>
                </a:solidFill>
              </a:rPr>
              <a:t>• Graph Persistence Engine: </a:t>
            </a:r>
            <a:r>
              <a:rPr sz="1100">
                <a:solidFill>
                  <a:srgbClr val="0F172A"/>
                </a:solidFill>
              </a:rPr>
              <a:t>Implement efficient GraphML saving/loading pipelines for fast graph retrieval.
</a:t>
            </a:r>
          </a:p>
          <a:p>
            <a:r>
              <a:rPr b="1" sz="1200">
                <a:solidFill>
                  <a:srgbClr val="2563EB"/>
                </a:solidFill>
              </a:rPr>
              <a:t>• Preparation for Flood Susceptibility: </a:t>
            </a:r>
            <a:r>
              <a:rPr sz="1100">
                <a:solidFill>
                  <a:srgbClr val="0F172A"/>
                </a:solidFill>
              </a:rPr>
              <a:t>Establish clean edge ID schemes ready for SRTM elevation &amp; rainfall integration in Stage 3.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