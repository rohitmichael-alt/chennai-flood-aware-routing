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[KEY PRESENTATION TALKING POINTS]</a:t>
            </a:r>
          </a:p>
          <a:p>
            <a:r>
              <a:t>• Welcome Ma'am. This presentation details the project vision for Flood- and Congestion-Aware Dynamic Traffic Routing in Chennai.</a:t>
            </a:r>
          </a:p>
          <a:p>
            <a:r>
              <a:t>• My name is Rohit Michael Raj, Register No 24BCE5108.</a:t>
            </a:r>
          </a:p>
          <a:p>
            <a:r>
              <a:t>• This master deck presents the end-to-end architecture, Stage 1 implementation &amp; evidence, multi-factor disruption matrix, and the 10-stage roadmap.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[KEY PRESENTATION TALKING POINTS]</a:t>
            </a:r>
          </a:p>
          <a:p>
            <a:r>
              <a:t>• Walk Ma'am through the 6-layer architecture workflow diagram.</a:t>
            </a:r>
          </a:p>
          <a:p>
            <a:r>
              <a:t>• Emphasize strict layer decoupling: data, physical capacity, cost functions, and routing logic are cleanly separated.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[KEY PRESENTATION TALKING POINTS]</a:t>
            </a:r>
          </a:p>
          <a:p>
            <a:r>
              <a:t>• Present the exact 6-step pipeline executed in Stage 1.</a:t>
            </a:r>
          </a:p>
          <a:p>
            <a:r>
              <a:t>• Highlight spatial metric projection (EPSG:32644) to convert GPS lat/lon to exact meter distances.</a:t>
            </a:r>
          </a:p>
          <a:p>
            <a:r>
              <a:t>• Show how the output of BPR feeds directly into Dijkstra.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[KEY PRESENTATION TALKING POINTS]</a:t>
            </a:r>
          </a:p>
          <a:p>
            <a:r>
              <a:t>• Detail the three data factors considered in Stage 1.</a:t>
            </a:r>
          </a:p>
          <a:p>
            <a:r>
              <a:t>• OpenStreetMap gives real Chennai road geometry.</a:t>
            </a:r>
          </a:p>
          <a:p>
            <a:r>
              <a:t>• OpenCity provides 327 real historical flood points from 2015.</a:t>
            </a:r>
          </a:p>
          <a:p>
            <a:r>
              <a:t>• Coordinate projection to UTM Zone 44N guarantees exact metric meter distance calculations.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[KEY PRESENTATION TALKING POINTS]</a:t>
            </a:r>
          </a:p>
          <a:p>
            <a:r>
              <a:t>• Explain the BPR formula parameters.</a:t>
            </a:r>
          </a:p>
          <a:p>
            <a:r>
              <a:t>• Emphasize how effective capacity C_eff connects physical flood states to mathematical routing costs.</a:t>
            </a:r>
          </a:p>
          <a:p>
            <a:r>
              <a:t>• Point out that in Stage 1, the affected test edge is set to BLOCKED state to demonstrate clean Dijkstra detour selection.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[KEY PRESENTATION TALKING POINTS]</a:t>
            </a:r>
          </a:p>
          <a:p>
            <a:r>
              <a:t>• Point to the generated map image on the left.</a:t>
            </a:r>
          </a:p>
          <a:p>
            <a:r>
              <a:t>• Highlight the numbers: 327 flood points loaded, 15 affected edges found.</a:t>
            </a:r>
          </a:p>
          <a:p>
            <a:r>
              <a:t>• Before disruption: direct route takes 14.63 seconds.</a:t>
            </a:r>
          </a:p>
          <a:p>
            <a:r>
              <a:t>• After disruption: Dijkstra detours around Kannan Street, taking 34.61 seconds across 9 nodes.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[KEY PRESENTATION TALKING POINTS]</a:t>
            </a:r>
          </a:p>
          <a:p>
            <a:r>
              <a:t>• Explain that the codebase is modularly structured in src/chennai_routing.</a:t>
            </a:r>
          </a:p>
          <a:p>
            <a:r>
              <a:t>• Highlight that all 6 pytest automated unit tests pass successfully.</a:t>
            </a:r>
          </a:p>
          <a:p>
            <a:r>
              <a:t>• Emphasize that all output tables and map images are generated reproducibly via scripts/run_stage1_poc.py.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[KEY PRESENTATION TALKING POINTS]</a:t>
            </a:r>
          </a:p>
          <a:p>
            <a:r>
              <a:t>• Explain the 4 factor categories considered in our project scope.</a:t>
            </a:r>
          </a:p>
          <a:p>
            <a:r>
              <a:t>• 1. Road Network factors (geometry, speeds, lanes).</a:t>
            </a:r>
          </a:p>
          <a:p>
            <a:r>
              <a:t>• 2. Flood factors (hotspots, elevation, rainfall).</a:t>
            </a:r>
          </a:p>
          <a:p>
            <a:r>
              <a:t>• 3. Traffic factors (volumes, capacities, BPR delays).</a:t>
            </a:r>
          </a:p>
          <a:p>
            <a:r>
              <a:t>• 4. Incident &amp; Emergency factors (accidents, emergency priority).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[KEY PRESENTATION TALKING POINTS]</a:t>
            </a:r>
          </a:p>
          <a:p>
            <a:r>
              <a:t>• Present the clear 10-stage roadmap.</a:t>
            </a:r>
          </a:p>
          <a:p>
            <a:r>
              <a:t>• Stage 1 is complete.</a:t>
            </a:r>
          </a:p>
          <a:p>
            <a:r>
              <a:t>• Stage 2 is the immediate next step (robust road graph).</a:t>
            </a:r>
          </a:p>
          <a:p>
            <a:r>
              <a:t>• Stages 3-10 build up flood susceptibility, dynamic costs, SUMO microsimulation, and evaluation.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[KEY PRESENTATION TALKING POINTS]</a:t>
            </a:r>
          </a:p>
          <a:p>
            <a:r>
              <a:t>• Contrast traditional static Dijkstra with our proposed dynamic engine.</a:t>
            </a:r>
          </a:p>
          <a:p>
            <a:r>
              <a:t>• Highlight that our system dynamically updates BPR edge weights and uses hysteresis to prevent traffic oscillation.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[KEY PRESENTATION TALKING POINTS]</a:t>
            </a:r>
          </a:p>
          <a:p>
            <a:r>
              <a:t>• Explain the dedicated emergency routing module.</a:t>
            </a:r>
          </a:p>
          <a:p>
            <a:r>
              <a:t>• Standard traffic experiences congestion delays.</a:t>
            </a:r>
          </a:p>
          <a:p>
            <a:r>
              <a:t>• Emergency vehicles get priority weight discounts but must strictly avoid submerged BLOCKED segments.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[KEY PRESENTATION TALKING POINTS]</a:t>
            </a:r>
          </a:p>
          <a:p>
            <a:r>
              <a:t>• Reiterate academic boundaries and honesty.</a:t>
            </a:r>
          </a:p>
          <a:p>
            <a:r>
              <a:t>• Ensures evaluators understand exact project limits and scientific rigor.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[KEY PRESENTATION TALKING POINTS]</a:t>
            </a:r>
          </a:p>
          <a:p>
            <a:r>
              <a:t>• Detail the evaluation metrics that will be calculated in Stage 10.</a:t>
            </a:r>
          </a:p>
          <a:p>
            <a:r>
              <a:t>• Emphasize that the dynamic system will be quantitatively benchmarked against static Dijkstra.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[KEY PRESENTATION TALKING POINTS]</a:t>
            </a:r>
          </a:p>
          <a:p>
            <a:r>
              <a:t>• Conclude the master presentation.</a:t>
            </a:r>
          </a:p>
          <a:p>
            <a:r>
              <a:t>• Reiterate student presenter name: Rohit Michael Raj, Reg No 24BCE5108.</a:t>
            </a:r>
          </a:p>
          <a:p>
            <a:r>
              <a:t>• Thank Ma'am and open for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132320" cy="6858000"/>
          </a:xfrm>
          <a:prstGeom prst="rect">
            <a:avLst/>
          </a:prstGeom>
          <a:solidFill>
            <a:srgbClr val="0A19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086600" y="0"/>
            <a:ext cx="91440" cy="68580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59436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FFFFFF"/>
                </a:solidFill>
                <a:latin typeface="Segoe UI"/>
              </a:defRPr>
            </a:pPr>
            <a:r>
              <a:t>Chennai Flood- and</a:t>
            </a:r>
            <a:br/>
            <a:r>
              <a:t>Congestion-Aware</a:t>
            </a:r>
            <a:br/>
            <a:r>
              <a:t>Dynamic Traffic Routing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3383280"/>
            <a:ext cx="4389120" cy="45720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FULL PROJECT ARCHITECTURE &amp; STAGE 1 POC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4389120"/>
            <a:ext cx="5669280" cy="1645920"/>
          </a:xfrm>
          <a:prstGeom prst="roundRect">
            <a:avLst/>
          </a:prstGeom>
          <a:solidFill>
            <a:srgbClr val="14233C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4526280"/>
            <a:ext cx="53035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EA5E9"/>
                </a:solidFill>
                <a:latin typeface="Segoe UI"/>
              </a:defRPr>
            </a:pPr>
            <a:r>
              <a:t>STUDENT PRESENTER</a:t>
            </a:r>
          </a:p>
          <a:p>
            <a:pPr>
              <a:defRPr sz="2200" b="1">
                <a:solidFill>
                  <a:srgbClr val="FFFFFF"/>
                </a:solidFill>
                <a:latin typeface="Segoe UI"/>
              </a:defRPr>
            </a:pPr>
            <a:r>
              <a:t>Rohit Michael Raj</a:t>
            </a:r>
          </a:p>
          <a:p>
            <a:pPr>
              <a:defRPr sz="1500">
                <a:solidFill>
                  <a:srgbClr val="CBD5E1"/>
                </a:solidFill>
                <a:latin typeface="Calibri"/>
              </a:defRPr>
            </a:pPr>
            <a:r>
              <a:t>Register No: 24BCE5108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98079" y="1005840"/>
            <a:ext cx="3931920" cy="50292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680960" y="1188720"/>
            <a:ext cx="3566160" cy="548640"/>
          </a:xfrm>
          <a:prstGeom prst="round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FFFFF"/>
                </a:solidFill>
                <a:latin typeface="Segoe UI"/>
              </a:defRPr>
            </a:pPr>
            <a:r>
              <a:t>Project Vision &amp; Scope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80960" y="1920240"/>
            <a:ext cx="356616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200">
                <a:solidFill>
                  <a:srgbClr val="0D9488"/>
                </a:solidFill>
              </a:rPr>
              <a:t>• Core Goal: </a:t>
            </a:r>
            <a:r>
              <a:rPr sz="1100">
                <a:solidFill>
                  <a:srgbClr val="0F172A"/>
                </a:solidFill>
              </a:rPr>
              <a:t>Build an intelligent urban routing engine for Chennai under flooding and congestion.</a:t>
            </a:r>
          </a:p>
          <a:p>
            <a:r>
              <a:rPr b="1" sz="1200">
                <a:solidFill>
                  <a:srgbClr val="0D9488"/>
                </a:solidFill>
              </a:rPr>
              <a:t>• Multi-Source Data: </a:t>
            </a:r>
            <a:r>
              <a:rPr sz="1100">
                <a:solidFill>
                  <a:srgbClr val="0F172A"/>
                </a:solidFill>
              </a:rPr>
              <a:t>Fuse OpenStreetMap, SRTM elevation, GPM rainfall, and flood hotspots.</a:t>
            </a:r>
          </a:p>
          <a:p>
            <a:r>
              <a:rPr b="1" sz="1200">
                <a:solidFill>
                  <a:srgbClr val="0D9488"/>
                </a:solidFill>
              </a:rPr>
              <a:t>• Transport Modelling: </a:t>
            </a:r>
            <a:r>
              <a:rPr sz="1100">
                <a:solidFill>
                  <a:srgbClr val="0F172A"/>
                </a:solidFill>
              </a:rPr>
              <a:t>Translate waterlogging &amp; volume into dynamic BPR travel-time edge costs.</a:t>
            </a:r>
          </a:p>
          <a:p>
            <a:r>
              <a:rPr b="1" sz="1200">
                <a:solidFill>
                  <a:srgbClr val="0D9488"/>
                </a:solidFill>
              </a:rPr>
              <a:t>• Stage 1 Achieved: </a:t>
            </a:r>
            <a:r>
              <a:rPr sz="1100">
                <a:solidFill>
                  <a:srgbClr val="0F172A"/>
                </a:solidFill>
              </a:rPr>
              <a:t>Completed end-to-end proof of concept mapping OpenCity flood points to OSM edges.</a:t>
            </a:r>
          </a:p>
          <a:p>
            <a:r>
              <a:rPr b="1" sz="1200">
                <a:solidFill>
                  <a:srgbClr val="0D9488"/>
                </a:solidFill>
              </a:rPr>
              <a:t>• Validation: </a:t>
            </a:r>
            <a:r>
              <a:rPr sz="1100">
                <a:solidFill>
                  <a:srgbClr val="0F172A"/>
                </a:solidFill>
              </a:rPr>
              <a:t>6 unit tests passed; reproducible execution commands verified.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24128"/>
            <a:ext cx="12191695" cy="4572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73152"/>
            <a:ext cx="868680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FFFFFF"/>
                </a:solidFill>
                <a:latin typeface="Segoe UI"/>
              </a:defRPr>
            </a:pPr>
            <a:r>
              <a:t>1. Master System Architecture &amp; Workflow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21792"/>
            <a:ext cx="8686800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0EA5E9"/>
                </a:solidFill>
                <a:latin typeface="Calibri"/>
              </a:defRPr>
            </a:pPr>
            <a:r>
              <a:t>6-layer modular workflow from raw geospatial data to SUMO microsimulation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601200" y="274320"/>
            <a:ext cx="1828800" cy="45720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MASTER ARCHITECTURE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640080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6446520"/>
            <a:ext cx="54864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100" b="1">
                <a:solidFill>
                  <a:srgbClr val="475569"/>
                </a:solidFill>
                <a:latin typeface="Calibri"/>
              </a:defRPr>
            </a:pPr>
            <a:r>
              <a:t>Rohit Michael Raj | Reg No: 24BCE5108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02575" y="6446520"/>
            <a:ext cx="36576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100">
                <a:solidFill>
                  <a:srgbClr val="475569"/>
                </a:solidFill>
                <a:latin typeface="Calibri"/>
              </a:defRPr>
            </a:pPr>
            <a:r>
              <a:t>Full Project | Slide 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1371600"/>
            <a:ext cx="1554480" cy="2194560"/>
          </a:xfrm>
          <a:prstGeom prst="roundRect">
            <a:avLst/>
          </a:prstGeom>
          <a:solidFill>
            <a:srgbClr val="EFF6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41248" y="1481328"/>
            <a:ext cx="365760" cy="36576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43584" y="1463040"/>
            <a:ext cx="969264" cy="4389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F172A"/>
                </a:solidFill>
                <a:latin typeface="Segoe UI"/>
              </a:defRPr>
            </a:pPr>
            <a:r>
              <a:t>L1. Data Ingestion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" y="1938528"/>
            <a:ext cx="1335024" cy="1554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>
                <a:solidFill>
                  <a:srgbClr val="475569"/>
                </a:solidFill>
                <a:latin typeface="Calibri"/>
              </a:defRPr>
            </a:pPr>
            <a:r>
              <a:t>• OpenStreetMap</a:t>
            </a:r>
            <a:br/>
            <a:r>
              <a:t>• OpenCity Flood</a:t>
            </a:r>
            <a:br/>
            <a:r>
              <a:t>• SRTM Elevation</a:t>
            </a:r>
            <a:br/>
            <a:r>
              <a:t>• GPM Rainfall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2331720" y="2240280"/>
            <a:ext cx="182880" cy="365760"/>
          </a:xfrm>
          <a:prstGeom prst="rightArrow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2560320" y="1371600"/>
            <a:ext cx="1554480" cy="2194560"/>
          </a:xfrm>
          <a:prstGeom prst="roundRect">
            <a:avLst/>
          </a:prstGeom>
          <a:solidFill>
            <a:srgbClr val="EFF6FF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2670048" y="1481328"/>
            <a:ext cx="365760" cy="365760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72384" y="1463040"/>
            <a:ext cx="969264" cy="4389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F172A"/>
                </a:solidFill>
                <a:latin typeface="Segoe UI"/>
              </a:defRPr>
            </a:pPr>
            <a:r>
              <a:t>L2. Spatial Engine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670048" y="1938528"/>
            <a:ext cx="1335024" cy="1554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>
                <a:solidFill>
                  <a:srgbClr val="475569"/>
                </a:solidFill>
                <a:latin typeface="Calibri"/>
              </a:defRPr>
            </a:pPr>
            <a:r>
              <a:t>• Metric Projection</a:t>
            </a:r>
            <a:br/>
            <a:r>
              <a:t>• KDTree Mapping</a:t>
            </a:r>
            <a:br/>
            <a:r>
              <a:t>• HAND Hydrology</a:t>
            </a:r>
            <a:br/>
            <a:r>
              <a:t>• Susceptibility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4160520" y="2240280"/>
            <a:ext cx="182880" cy="365760"/>
          </a:xfrm>
          <a:prstGeom prst="rightArrow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4389120" y="1371600"/>
            <a:ext cx="1554480" cy="2194560"/>
          </a:xfrm>
          <a:prstGeom prst="roundRect">
            <a:avLst/>
          </a:prstGeom>
          <a:solidFill>
            <a:srgbClr val="EFF6FF"/>
          </a:solidFill>
          <a:ln w="1905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4498848" y="1481328"/>
            <a:ext cx="365760" cy="36576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901183" y="1463040"/>
            <a:ext cx="969264" cy="4389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F172A"/>
                </a:solidFill>
                <a:latin typeface="Segoe UI"/>
              </a:defRPr>
            </a:pPr>
            <a:r>
              <a:t>L3. Road State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98848" y="1938528"/>
            <a:ext cx="1335024" cy="1554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>
                <a:solidFill>
                  <a:srgbClr val="475569"/>
                </a:solidFill>
                <a:latin typeface="Calibri"/>
              </a:defRPr>
            </a:pPr>
            <a:r>
              <a:t>• Normal</a:t>
            </a:r>
            <a:br/>
            <a:r>
              <a:t>• Degraded (50% C)</a:t>
            </a:r>
            <a:br/>
            <a:r>
              <a:t>• Severe (10% C)</a:t>
            </a:r>
            <a:br/>
            <a:r>
              <a:t>• Blocked (0% C)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5989320" y="2240280"/>
            <a:ext cx="182880" cy="365760"/>
          </a:xfrm>
          <a:prstGeom prst="rightArrow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217920" y="1371600"/>
            <a:ext cx="1554480" cy="2194560"/>
          </a:xfrm>
          <a:prstGeom prst="roundRect">
            <a:avLst/>
          </a:prstGeom>
          <a:solidFill>
            <a:srgbClr val="EFF6FF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327648" y="1481328"/>
            <a:ext cx="365760" cy="365760"/>
          </a:xfrm>
          <a:prstGeom prst="ellipse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729983" y="1463040"/>
            <a:ext cx="969264" cy="4389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F172A"/>
                </a:solidFill>
                <a:latin typeface="Segoe UI"/>
              </a:defRPr>
            </a:pPr>
            <a:r>
              <a:t>L4. BPR Engine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27648" y="1938528"/>
            <a:ext cx="1335024" cy="1554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>
                <a:solidFill>
                  <a:srgbClr val="475569"/>
                </a:solidFill>
                <a:latin typeface="Calibri"/>
              </a:defRPr>
            </a:pPr>
            <a:r>
              <a:t>• Flow Volume V</a:t>
            </a:r>
            <a:br/>
            <a:r>
              <a:t>• Capacity C_eff</a:t>
            </a:r>
            <a:br/>
            <a:r>
              <a:t>• Travel Time T</a:t>
            </a:r>
            <a:br/>
            <a:r>
              <a:t>• Congestion Index</a:t>
            </a:r>
          </a:p>
        </p:txBody>
      </p:sp>
      <p:sp>
        <p:nvSpPr>
          <p:cNvPr id="29" name="Right Arrow 28"/>
          <p:cNvSpPr/>
          <p:nvPr/>
        </p:nvSpPr>
        <p:spPr>
          <a:xfrm>
            <a:off x="7818120" y="2240280"/>
            <a:ext cx="182880" cy="365760"/>
          </a:xfrm>
          <a:prstGeom prst="rightArrow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8046720" y="1371600"/>
            <a:ext cx="1554480" cy="2194560"/>
          </a:xfrm>
          <a:prstGeom prst="roundRect">
            <a:avLst/>
          </a:prstGeom>
          <a:solidFill>
            <a:srgbClr val="EFF6FF"/>
          </a:solidFill>
          <a:ln w="1905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8156448" y="1481328"/>
            <a:ext cx="365760" cy="365760"/>
          </a:xfrm>
          <a:prstGeom prst="ellipse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558784" y="1463040"/>
            <a:ext cx="969264" cy="4389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F172A"/>
                </a:solidFill>
                <a:latin typeface="Segoe UI"/>
              </a:defRPr>
            </a:pPr>
            <a:r>
              <a:t>L5. Dynamic Route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156448" y="1938528"/>
            <a:ext cx="1335024" cy="1554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>
                <a:solidFill>
                  <a:srgbClr val="475569"/>
                </a:solidFill>
                <a:latin typeface="Calibri"/>
              </a:defRPr>
            </a:pPr>
            <a:r>
              <a:t>• Dynamic Dijkstra</a:t>
            </a:r>
            <a:br/>
            <a:r>
              <a:t>• Threshold Rules</a:t>
            </a:r>
            <a:br/>
            <a:r>
              <a:t>• Hysteresis</a:t>
            </a:r>
            <a:br/>
            <a:r>
              <a:t>• Emergency Priority</a:t>
            </a:r>
          </a:p>
        </p:txBody>
      </p:sp>
      <p:sp>
        <p:nvSpPr>
          <p:cNvPr id="34" name="Right Arrow 33"/>
          <p:cNvSpPr/>
          <p:nvPr/>
        </p:nvSpPr>
        <p:spPr>
          <a:xfrm>
            <a:off x="9646920" y="2240280"/>
            <a:ext cx="182880" cy="365760"/>
          </a:xfrm>
          <a:prstGeom prst="rightArrow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9875520" y="1371600"/>
            <a:ext cx="1554480" cy="2194560"/>
          </a:xfrm>
          <a:prstGeom prst="roundRect">
            <a:avLst/>
          </a:prstGeom>
          <a:solidFill>
            <a:srgbClr val="EFF6FF"/>
          </a:solidFill>
          <a:ln w="1905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9985248" y="1481328"/>
            <a:ext cx="365760" cy="365760"/>
          </a:xfrm>
          <a:prstGeom prst="ellipse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6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387584" y="1463040"/>
            <a:ext cx="969264" cy="4389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F172A"/>
                </a:solidFill>
                <a:latin typeface="Segoe UI"/>
              </a:defRPr>
            </a:pPr>
            <a:r>
              <a:t>L6. Evaluation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985248" y="1938528"/>
            <a:ext cx="1335024" cy="1554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>
                <a:solidFill>
                  <a:srgbClr val="475569"/>
                </a:solidFill>
                <a:latin typeface="Calibri"/>
              </a:defRPr>
            </a:pPr>
            <a:r>
              <a:t>• SUMO Simulator</a:t>
            </a:r>
            <a:br/>
            <a:r>
              <a:t>• Static Baseline</a:t>
            </a:r>
            <a:br/>
            <a:r>
              <a:t>• Delay Metrics</a:t>
            </a:r>
            <a:br/>
            <a:r>
              <a:t>• Stability Analysis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31520" y="3840480"/>
            <a:ext cx="10728655" cy="2286000"/>
          </a:xfrm>
          <a:prstGeom prst="roundRect">
            <a:avLst/>
          </a:prstGeom>
          <a:solidFill>
            <a:srgbClr val="EFF6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14400" y="3931920"/>
            <a:ext cx="10362895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2563EB"/>
                </a:solidFill>
                <a:latin typeface="Segoe UI"/>
              </a:defRPr>
            </a:pPr>
            <a:r>
              <a:t>KEY SYSTEM HIGHLIGHTS &amp; DECOUPLING PRINCIPLE</a:t>
            </a:r>
          </a:p>
          <a:p>
            <a:r>
              <a:rPr b="1" sz="1200">
                <a:solidFill>
                  <a:srgbClr val="2563EB"/>
                </a:solidFill>
              </a:rPr>
              <a:t>• Strict Layer Decoupling: </a:t>
            </a:r>
            <a:r>
              <a:rPr sz="1100">
                <a:solidFill>
                  <a:srgbClr val="0F172A"/>
                </a:solidFill>
              </a:rPr>
              <a:t>The data collection layer, hydrological state engine, BPR capacity modeller, and dynamic routing algorithm operate as independent modular layers.</a:t>
            </a:r>
          </a:p>
          <a:p>
            <a:r>
              <a:rPr b="1" sz="1200">
                <a:solidFill>
                  <a:srgbClr val="2563EB"/>
                </a:solidFill>
              </a:rPr>
              <a:t>• Physical Capacity Basis: </a:t>
            </a:r>
            <a:r>
              <a:rPr sz="1100">
                <a:solidFill>
                  <a:srgbClr val="0F172A"/>
                </a:solidFill>
              </a:rPr>
              <a:t>Flooding and congestion are converted into physical road capacity reduction (C_eff), avoiding ad-hoc heuristic penalties.</a:t>
            </a:r>
          </a:p>
          <a:p>
            <a:r>
              <a:rPr b="1" sz="1200">
                <a:solidFill>
                  <a:srgbClr val="2563EB"/>
                </a:solidFill>
              </a:rPr>
              <a:t>• Emergency Fleet Preemption: </a:t>
            </a:r>
            <a:r>
              <a:rPr sz="1100">
                <a:solidFill>
                  <a:srgbClr val="0F172A"/>
                </a:solidFill>
              </a:rPr>
              <a:t>Emergency vehicles follow a priority override rule (zero congestion penalty) rather than competing with standard traffic queues.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24128"/>
            <a:ext cx="12191695" cy="4572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73152"/>
            <a:ext cx="868680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FFFFFF"/>
                </a:solidFill>
                <a:latin typeface="Segoe UI"/>
              </a:defRPr>
            </a:pPr>
            <a:r>
              <a:t>2. Stage 1 Execution Pipeline &amp; Sub-Modules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21792"/>
            <a:ext cx="8686800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0EA5E9"/>
                </a:solidFill>
                <a:latin typeface="Calibri"/>
              </a:defRPr>
            </a:pPr>
            <a:r>
              <a:t>Complete pipeline executed in Stage 1 from geospatial ingestion to Dijkstra reroute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601200" y="274320"/>
            <a:ext cx="1828800" cy="45720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STAGE 1 PIPELINE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640080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6446520"/>
            <a:ext cx="54864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100" b="1">
                <a:solidFill>
                  <a:srgbClr val="475569"/>
                </a:solidFill>
                <a:latin typeface="Calibri"/>
              </a:defRPr>
            </a:pPr>
            <a:r>
              <a:t>Rohit Michael Raj | Reg No: 24BCE5108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02575" y="6446520"/>
            <a:ext cx="36576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100">
                <a:solidFill>
                  <a:srgbClr val="475569"/>
                </a:solidFill>
                <a:latin typeface="Calibri"/>
              </a:defRPr>
            </a:pPr>
            <a:r>
              <a:t>Full Project | Slide 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1463040"/>
            <a:ext cx="1554480" cy="2011680"/>
          </a:xfrm>
          <a:prstGeom prst="roundRect">
            <a:avLst/>
          </a:prstGeom>
          <a:solidFill>
            <a:srgbClr val="EFF6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41248" y="1572768"/>
            <a:ext cx="365760" cy="36576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43584" y="1554480"/>
            <a:ext cx="969264" cy="4389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F172A"/>
                </a:solidFill>
                <a:latin typeface="Segoe UI"/>
              </a:defRPr>
            </a:pPr>
            <a:r>
              <a:t>1. Data Ingestion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" y="2029968"/>
            <a:ext cx="1335024" cy="1371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>
                <a:solidFill>
                  <a:srgbClr val="475569"/>
                </a:solidFill>
                <a:latin typeface="Calibri"/>
              </a:defRPr>
            </a:pPr>
            <a:r>
              <a:t>Download OSM road network &amp; OpenCity flood KML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2331720" y="2240280"/>
            <a:ext cx="182880" cy="365760"/>
          </a:xfrm>
          <a:prstGeom prst="rightArrow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2560320" y="1463040"/>
            <a:ext cx="1554480" cy="2011680"/>
          </a:xfrm>
          <a:prstGeom prst="roundRect">
            <a:avLst/>
          </a:prstGeom>
          <a:solidFill>
            <a:srgbClr val="EFF6FF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2670048" y="1572768"/>
            <a:ext cx="365760" cy="365760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72384" y="1554480"/>
            <a:ext cx="969264" cy="4389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F172A"/>
                </a:solidFill>
                <a:latin typeface="Segoe UI"/>
              </a:defRPr>
            </a:pPr>
            <a:r>
              <a:t>2. Flood Parsing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670048" y="2029968"/>
            <a:ext cx="1335024" cy="1371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>
                <a:solidFill>
                  <a:srgbClr val="475569"/>
                </a:solidFill>
                <a:latin typeface="Calibri"/>
              </a:defRPr>
            </a:pPr>
            <a:r>
              <a:t>Parse 327 KML flood point coordinates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4160520" y="2240280"/>
            <a:ext cx="182880" cy="365760"/>
          </a:xfrm>
          <a:prstGeom prst="rightArrow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4389120" y="1463040"/>
            <a:ext cx="1554480" cy="2011680"/>
          </a:xfrm>
          <a:prstGeom prst="roundRect">
            <a:avLst/>
          </a:prstGeom>
          <a:solidFill>
            <a:srgbClr val="EFF6FF"/>
          </a:solidFill>
          <a:ln w="1905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4498848" y="1572768"/>
            <a:ext cx="365760" cy="36576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901183" y="1554480"/>
            <a:ext cx="969264" cy="4389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F172A"/>
                </a:solidFill>
                <a:latin typeface="Segoe UI"/>
              </a:defRPr>
            </a:pPr>
            <a:r>
              <a:t>3. Spatial Mapping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98848" y="2029968"/>
            <a:ext cx="1335024" cy="1371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>
                <a:solidFill>
                  <a:srgbClr val="475569"/>
                </a:solidFill>
                <a:latin typeface="Calibri"/>
              </a:defRPr>
            </a:pPr>
            <a:r>
              <a:t>Map points to nearest road edge within 150m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5989320" y="2240280"/>
            <a:ext cx="182880" cy="365760"/>
          </a:xfrm>
          <a:prstGeom prst="rightArrow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217920" y="1463040"/>
            <a:ext cx="1554480" cy="2011680"/>
          </a:xfrm>
          <a:prstGeom prst="roundRect">
            <a:avLst/>
          </a:prstGeom>
          <a:solidFill>
            <a:srgbClr val="EFF6FF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327648" y="1572768"/>
            <a:ext cx="365760" cy="365760"/>
          </a:xfrm>
          <a:prstGeom prst="ellipse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729983" y="1554480"/>
            <a:ext cx="969264" cy="4389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F172A"/>
                </a:solidFill>
                <a:latin typeface="Segoe UI"/>
              </a:defRPr>
            </a:pPr>
            <a:r>
              <a:t>4. Road State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27648" y="2029968"/>
            <a:ext cx="1335024" cy="1371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>
                <a:solidFill>
                  <a:srgbClr val="475569"/>
                </a:solidFill>
                <a:latin typeface="Calibri"/>
              </a:defRPr>
            </a:pPr>
            <a:r>
              <a:t>Assign state (BLOCKED / Degraded / Normal)</a:t>
            </a:r>
          </a:p>
        </p:txBody>
      </p:sp>
      <p:sp>
        <p:nvSpPr>
          <p:cNvPr id="29" name="Right Arrow 28"/>
          <p:cNvSpPr/>
          <p:nvPr/>
        </p:nvSpPr>
        <p:spPr>
          <a:xfrm>
            <a:off x="7818120" y="2240280"/>
            <a:ext cx="182880" cy="365760"/>
          </a:xfrm>
          <a:prstGeom prst="rightArrow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8046720" y="1463040"/>
            <a:ext cx="1554480" cy="2011680"/>
          </a:xfrm>
          <a:prstGeom prst="roundRect">
            <a:avLst/>
          </a:prstGeom>
          <a:solidFill>
            <a:srgbClr val="EFF6FF"/>
          </a:solidFill>
          <a:ln w="1905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8156448" y="1572768"/>
            <a:ext cx="365760" cy="365760"/>
          </a:xfrm>
          <a:prstGeom prst="ellipse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558784" y="1554480"/>
            <a:ext cx="969264" cy="4389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F172A"/>
                </a:solidFill>
                <a:latin typeface="Segoe UI"/>
              </a:defRPr>
            </a:pPr>
            <a:r>
              <a:t>5. BPR Engine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156448" y="2029968"/>
            <a:ext cx="1335024" cy="1371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>
                <a:solidFill>
                  <a:srgbClr val="475569"/>
                </a:solidFill>
                <a:latin typeface="Calibri"/>
              </a:defRPr>
            </a:pPr>
            <a:r>
              <a:t>Calculate effective capacity &amp; travel time cost</a:t>
            </a:r>
          </a:p>
        </p:txBody>
      </p:sp>
      <p:sp>
        <p:nvSpPr>
          <p:cNvPr id="34" name="Right Arrow 33"/>
          <p:cNvSpPr/>
          <p:nvPr/>
        </p:nvSpPr>
        <p:spPr>
          <a:xfrm>
            <a:off x="9646920" y="2240280"/>
            <a:ext cx="182880" cy="365760"/>
          </a:xfrm>
          <a:prstGeom prst="rightArrow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9875520" y="1463040"/>
            <a:ext cx="1554480" cy="2011680"/>
          </a:xfrm>
          <a:prstGeom prst="roundRect">
            <a:avLst/>
          </a:prstGeom>
          <a:solidFill>
            <a:srgbClr val="EFF6FF"/>
          </a:solidFill>
          <a:ln w="1905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9985248" y="1572768"/>
            <a:ext cx="365760" cy="365760"/>
          </a:xfrm>
          <a:prstGeom prst="ellipse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6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387584" y="1554480"/>
            <a:ext cx="969264" cy="4389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F172A"/>
                </a:solidFill>
                <a:latin typeface="Segoe UI"/>
              </a:defRPr>
            </a:pPr>
            <a:r>
              <a:t>6. Dijkstra Route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985248" y="2029968"/>
            <a:ext cx="1335024" cy="1371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>
                <a:solidFill>
                  <a:srgbClr val="475569"/>
                </a:solidFill>
                <a:latin typeface="Calibri"/>
              </a:defRPr>
            </a:pPr>
            <a:r>
              <a:t>Execute dynamic dynamic route selection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31520" y="3749039"/>
            <a:ext cx="10728655" cy="2377440"/>
          </a:xfrm>
          <a:prstGeom prst="roundRect">
            <a:avLst/>
          </a:prstGeom>
          <a:solidFill>
            <a:srgbClr val="EFF6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14400" y="3840480"/>
            <a:ext cx="10332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2563EB"/>
                </a:solidFill>
                <a:latin typeface="Segoe UI"/>
              </a:defRPr>
            </a:pPr>
            <a:r>
              <a:t>IMPLEMENTED SUB-MODULES IN STAGE 1 CODEBASE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914400" y="4251960"/>
            <a:ext cx="3291840" cy="16916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005840" y="4343400"/>
            <a:ext cx="310896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D9488"/>
                </a:solidFill>
                <a:latin typeface="Segoe UI"/>
              </a:defRPr>
            </a:pPr>
            <a:r>
              <a:t>Geospatial &amp; CRS Handler</a:t>
            </a:r>
          </a:p>
          <a:p>
            <a:pPr>
              <a:defRPr sz="1050">
                <a:solidFill>
                  <a:srgbClr val="0F172A"/>
                </a:solidFill>
                <a:latin typeface="Calibri"/>
              </a:defRPr>
            </a:pPr>
            <a:r>
              <a:t>• OSMnx extracts driving network.</a:t>
            </a:r>
            <a:br/>
            <a:r>
              <a:t>• GeoPandas converts WGS84 (EPSG:4326) to Metric UTM 44N (EPSG:32644) for safe metric distance calculation.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4480560" y="4251960"/>
            <a:ext cx="3291840" cy="16916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572000" y="4343400"/>
            <a:ext cx="310896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D97706"/>
                </a:solidFill>
                <a:latin typeface="Segoe UI"/>
              </a:defRPr>
            </a:pPr>
            <a:r>
              <a:t>Capacity &amp; BPR Modeller</a:t>
            </a:r>
          </a:p>
          <a:p>
            <a:pPr>
              <a:defRPr sz="1050">
                <a:solidFill>
                  <a:srgbClr val="0F172A"/>
                </a:solidFill>
                <a:latin typeface="Calibri"/>
              </a:defRPr>
            </a:pPr>
            <a:r>
              <a:t>• Normal capacity = 1200 veh/hr.</a:t>
            </a:r>
            <a:br/>
            <a:r>
              <a:t>• Disrupted edge capacity = 0 (BLOCKED).</a:t>
            </a:r>
            <a:br/>
            <a:r>
              <a:t>• BPR cost becomes infinite/unavailable for blocked road segment.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8046720" y="4251960"/>
            <a:ext cx="3291840" cy="16916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138160" y="4343400"/>
            <a:ext cx="310896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6A34A"/>
                </a:solidFill>
                <a:latin typeface="Segoe UI"/>
              </a:defRPr>
            </a:pPr>
            <a:r>
              <a:t>Dynamic Dijkstra Routing</a:t>
            </a:r>
          </a:p>
          <a:p>
            <a:pPr>
              <a:defRPr sz="1050">
                <a:solidFill>
                  <a:srgbClr val="0F172A"/>
                </a:solidFill>
                <a:latin typeface="Calibri"/>
              </a:defRPr>
            </a:pPr>
            <a:r>
              <a:t>• Runs Baseline Dijkstra on initial graph.</a:t>
            </a:r>
            <a:br/>
            <a:r>
              <a:t>• Refreshes edge weight matrix.</a:t>
            </a:r>
            <a:br/>
            <a:r>
              <a:t>• Runs Disrupted Dijkstra to pick optimal detour path.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24128"/>
            <a:ext cx="12191695" cy="4572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73152"/>
            <a:ext cx="868680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FFFFFF"/>
                </a:solidFill>
                <a:latin typeface="Segoe UI"/>
              </a:defRPr>
            </a:pPr>
            <a:r>
              <a:t>3. Factors Considered: Data Sources &amp; Spatial Fusion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21792"/>
            <a:ext cx="8686800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0EA5E9"/>
                </a:solidFill>
                <a:latin typeface="Calibri"/>
              </a:defRPr>
            </a:pPr>
            <a:r>
              <a:t>Rigorous integration of open road graphs and historical flood hotspots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601200" y="274320"/>
            <a:ext cx="1828800" cy="45720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DATA FACTORS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640080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6446520"/>
            <a:ext cx="54864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100" b="1">
                <a:solidFill>
                  <a:srgbClr val="475569"/>
                </a:solidFill>
                <a:latin typeface="Calibri"/>
              </a:defRPr>
            </a:pPr>
            <a:r>
              <a:t>Rohit Michael Raj | Reg No: 24BCE5108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02575" y="6446520"/>
            <a:ext cx="36576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100">
                <a:solidFill>
                  <a:srgbClr val="475569"/>
                </a:solidFill>
                <a:latin typeface="Calibri"/>
              </a:defRPr>
            </a:pPr>
            <a:r>
              <a:t>Full Project | Slide 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1280160"/>
            <a:ext cx="5120640" cy="22402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31520" y="1280160"/>
            <a:ext cx="5120640" cy="41148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FACTOR 1: Road Network Data (OpenStreetMap)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1737360"/>
            <a:ext cx="484632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latin typeface="Calibri"/>
              </a:defRPr>
            </a:pPr>
            <a:r>
              <a:t>• Downloaded via OSMnx Python library for target Chennai bounding box (North Chennai area).</a:t>
            </a:r>
            <a:br/>
            <a:r>
              <a:t>• Preserves edge attributes: length, geometry, highway class, and speed limits.</a:t>
            </a:r>
            <a:br/>
            <a:r>
              <a:t>• Graph structural integrity validated before routing.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703320"/>
            <a:ext cx="5120640" cy="23317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31520" y="3703320"/>
            <a:ext cx="5120640" cy="41148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FACTOR 2: Historical Flood Hotspots (OpenCity)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4160520"/>
            <a:ext cx="484632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latin typeface="Calibri"/>
              </a:defRPr>
            </a:pPr>
            <a:r>
              <a:t>• Dataset: OpenCity Chennai 2015 GCC Area Flood Hotspots (Public Domain KML).</a:t>
            </a:r>
            <a:br/>
            <a:r>
              <a:t>• Parsed 327 point features corresponding to verified historical waterlogging sites.</a:t>
            </a:r>
            <a:br/>
            <a:r>
              <a:t>• Strictly classified as HISTORICAL evidence, not live flood telemetry.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26480" y="1280160"/>
            <a:ext cx="5303520" cy="4754880"/>
          </a:xfrm>
          <a:prstGeom prst="roundRect">
            <a:avLst/>
          </a:prstGeom>
          <a:solidFill>
            <a:srgbClr val="EFF6FF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126480" y="1280160"/>
            <a:ext cx="5303520" cy="457200"/>
          </a:xfrm>
          <a:prstGeom prst="round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FACTOR 3: Spatial Nearest-Neighbor Road Mapping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9360" y="1874519"/>
            <a:ext cx="4937759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200">
                <a:solidFill>
                  <a:srgbClr val="0D9488"/>
                </a:solidFill>
              </a:rPr>
              <a:t>• Metric Projection: </a:t>
            </a:r>
            <a:r>
              <a:rPr sz="1100">
                <a:solidFill>
                  <a:srgbClr val="0F172A"/>
                </a:solidFill>
              </a:rPr>
              <a:t>Raw WGS84 geographic coordinates (latitude/longitude) cannot be accurately matched using Euclidean distance. Projected to EPSG:32644 (UTM Zone 44N) for metric accuracy.
</a:t>
            </a:r>
          </a:p>
          <a:p>
            <a:r>
              <a:rPr b="1" sz="1200">
                <a:solidFill>
                  <a:srgbClr val="0D9488"/>
                </a:solidFill>
              </a:rPr>
              <a:t>• Spatial Buffer Threshold: </a:t>
            </a:r>
            <a:r>
              <a:rPr sz="1100">
                <a:solidFill>
                  <a:srgbClr val="0F172A"/>
                </a:solidFill>
              </a:rPr>
              <a:t>A strict 150-meter metric threshold buffer is applied. Flood points farther than 150m from any road edge are ignored to prevent false matches.
</a:t>
            </a:r>
          </a:p>
          <a:p>
            <a:r>
              <a:rPr b="1" sz="1200">
                <a:solidFill>
                  <a:srgbClr val="0D9488"/>
                </a:solidFill>
              </a:rPr>
              <a:t>• Affected Edge Identification: </a:t>
            </a:r>
            <a:r>
              <a:rPr sz="1100">
                <a:solidFill>
                  <a:srgbClr val="0F172A"/>
                </a:solidFill>
              </a:rPr>
              <a:t>The mapping pipeline identified 15 affected road directions matching flood hotspots in the demonstration bounding box.
</a:t>
            </a:r>
          </a:p>
          <a:p>
            <a:r>
              <a:rPr b="1" sz="1200">
                <a:solidFill>
                  <a:srgbClr val="0D9488"/>
                </a:solidFill>
              </a:rPr>
              <a:t>• Controlled Disruption Selection: </a:t>
            </a:r>
            <a:r>
              <a:rPr sz="1100">
                <a:solidFill>
                  <a:srgbClr val="0F172A"/>
                </a:solidFill>
              </a:rPr>
              <a:t>Selected real mapped edge (9992430988, 9992430963) along Kannan Street for controlled Stage 1 routing experiment.
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24128"/>
            <a:ext cx="12191695" cy="4572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73152"/>
            <a:ext cx="868680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FFFFFF"/>
                </a:solidFill>
                <a:latin typeface="Segoe UI"/>
              </a:defRPr>
            </a:pPr>
            <a:r>
              <a:t>4. Capacity Degradation &amp; Travel-Time Cost Modelling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21792"/>
            <a:ext cx="8686800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0EA5E9"/>
                </a:solidFill>
                <a:latin typeface="Calibri"/>
              </a:defRPr>
            </a:pPr>
            <a:r>
              <a:t>Formulating road waterlogging into BPR dynamic edge costs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601200" y="274320"/>
            <a:ext cx="1828800" cy="45720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MATHEMATICAL MODEL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640080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6446520"/>
            <a:ext cx="54864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100" b="1">
                <a:solidFill>
                  <a:srgbClr val="475569"/>
                </a:solidFill>
                <a:latin typeface="Calibri"/>
              </a:defRPr>
            </a:pPr>
            <a:r>
              <a:t>Rohit Michael Raj | Reg No: 24BCE5108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02575" y="6446520"/>
            <a:ext cx="36576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100">
                <a:solidFill>
                  <a:srgbClr val="475569"/>
                </a:solidFill>
                <a:latin typeface="Calibri"/>
              </a:defRPr>
            </a:pPr>
            <a:r>
              <a:t>Full Project | Slide 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1280160"/>
            <a:ext cx="10728655" cy="1463040"/>
          </a:xfrm>
          <a:prstGeom prst="roundRect">
            <a:avLst/>
          </a:prstGeom>
          <a:solidFill>
            <a:srgbClr val="0A192F"/>
          </a:solidFill>
          <a:ln w="1905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1371600"/>
            <a:ext cx="103327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EA5E9"/>
                </a:solidFill>
                <a:latin typeface="Segoe UI"/>
              </a:defRPr>
            </a:pPr>
            <a:r>
              <a:t>BUREAU OF PUBLIC ROADS (BPR) TRAVEL-TIME EQUATION</a:t>
            </a:r>
          </a:p>
          <a:p>
            <a:pPr>
              <a:defRPr sz="2200" b="1">
                <a:solidFill>
                  <a:srgbClr val="FFFFFF"/>
                </a:solidFill>
                <a:latin typeface="Segoe UI"/>
              </a:defRPr>
            </a:pPr>
            <a:r>
              <a:t>T = t_0 * [ 1 + alpha * ( V / C_eff )^beta ]</a:t>
            </a:r>
          </a:p>
          <a:p>
            <a:pPr>
              <a:defRPr sz="1150">
                <a:solidFill>
                  <a:srgbClr val="CBD5E1"/>
                </a:solidFill>
                <a:latin typeface="Calibri"/>
              </a:defRPr>
            </a:pPr>
            <a:r>
              <a:t>Where: t_0 = free-flow travel time (length / speed), V = traffic volume, C_eff = effective degraded capacity, alpha = 0.15, beta = 4.0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2926080"/>
            <a:ext cx="2514600" cy="32004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31520" y="2926080"/>
            <a:ext cx="2514600" cy="411480"/>
          </a:xfrm>
          <a:prstGeom prst="round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NORMAL STATE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3429000"/>
            <a:ext cx="2331720" cy="2606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6A34A"/>
                </a:solidFill>
                <a:latin typeface="Segoe UI"/>
              </a:defRPr>
            </a:pPr>
            <a:r>
              <a:t>C_eff = 1.0 * C_0</a:t>
            </a:r>
          </a:p>
          <a:p>
            <a:pPr>
              <a:defRPr sz="1100" b="1">
                <a:solidFill>
                  <a:srgbClr val="0F172A"/>
                </a:solidFill>
                <a:latin typeface="Calibri"/>
              </a:defRPr>
            </a:pPr>
            <a:r>
              <a:t>100% Nominal Capacity</a:t>
            </a:r>
          </a:p>
          <a:p>
            <a:br/>
            <a:pPr>
              <a:defRPr sz="1050">
                <a:solidFill>
                  <a:srgbClr val="475569"/>
                </a:solidFill>
                <a:latin typeface="Calibri"/>
              </a:defRPr>
            </a:pPr>
            <a:r>
              <a:t>Travel time equals free-flow baseline with minimal congestion delay.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465576" y="2926080"/>
            <a:ext cx="2514600" cy="32004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3465576" y="2926080"/>
            <a:ext cx="2514600" cy="411480"/>
          </a:xfrm>
          <a:prstGeom prst="round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DEGRADED STATE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57016" y="3429000"/>
            <a:ext cx="2331720" cy="2606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D97706"/>
                </a:solidFill>
                <a:latin typeface="Segoe UI"/>
              </a:defRPr>
            </a:pPr>
            <a:r>
              <a:t>C_eff = 0.5 * C_0</a:t>
            </a:r>
          </a:p>
          <a:p>
            <a:pPr>
              <a:defRPr sz="1100" b="1">
                <a:solidFill>
                  <a:srgbClr val="0F172A"/>
                </a:solidFill>
                <a:latin typeface="Calibri"/>
              </a:defRPr>
            </a:pPr>
            <a:r>
              <a:t>50% Capacity Reduction</a:t>
            </a:r>
          </a:p>
          <a:p>
            <a:br/>
            <a:pPr>
              <a:defRPr sz="1050">
                <a:solidFill>
                  <a:srgbClr val="475569"/>
                </a:solidFill>
                <a:latin typeface="Calibri"/>
              </a:defRPr>
            </a:pPr>
            <a:r>
              <a:t>Minor waterlogging. BPR travel time inflates significantly due to volume ratio.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99632" y="2926080"/>
            <a:ext cx="2514600" cy="32004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199632" y="2926080"/>
            <a:ext cx="2514600" cy="411480"/>
          </a:xfrm>
          <a:prstGeom prst="round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SEVERE STATE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91072" y="3429000"/>
            <a:ext cx="2331720" cy="2606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DC2626"/>
                </a:solidFill>
                <a:latin typeface="Segoe UI"/>
              </a:defRPr>
            </a:pPr>
            <a:r>
              <a:t>C_eff = 0.1 * C_0</a:t>
            </a:r>
          </a:p>
          <a:p>
            <a:pPr>
              <a:defRPr sz="1100" b="1">
                <a:solidFill>
                  <a:srgbClr val="0F172A"/>
                </a:solidFill>
                <a:latin typeface="Calibri"/>
              </a:defRPr>
            </a:pPr>
            <a:r>
              <a:t>90% Capacity Reduction</a:t>
            </a:r>
          </a:p>
          <a:p>
            <a:br/>
            <a:pPr>
              <a:defRPr sz="1050">
                <a:solidFill>
                  <a:srgbClr val="475569"/>
                </a:solidFill>
                <a:latin typeface="Calibri"/>
              </a:defRPr>
            </a:pPr>
            <a:r>
              <a:t>Deep standing water. BPR travel time skyrockets, discouraging route entry.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933688" y="2926080"/>
            <a:ext cx="2514600" cy="32004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8933688" y="2926080"/>
            <a:ext cx="2514600" cy="41148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BLOCKED STATE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25128" y="3429000"/>
            <a:ext cx="2331720" cy="2606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7C3AED"/>
                </a:solidFill>
                <a:latin typeface="Segoe UI"/>
              </a:defRPr>
            </a:pPr>
            <a:r>
              <a:t>C_eff = 0.0</a:t>
            </a:r>
          </a:p>
          <a:p>
            <a:pPr>
              <a:defRPr sz="1100" b="1">
                <a:solidFill>
                  <a:srgbClr val="0F172A"/>
                </a:solidFill>
                <a:latin typeface="Calibri"/>
              </a:defRPr>
            </a:pPr>
            <a:r>
              <a:t>0% Capacity (Excluded)</a:t>
            </a:r>
          </a:p>
          <a:p>
            <a:br/>
            <a:pPr>
              <a:defRPr sz="1050">
                <a:solidFill>
                  <a:srgbClr val="475569"/>
                </a:solidFill>
                <a:latin typeface="Calibri"/>
              </a:defRPr>
            </a:pPr>
            <a:r>
              <a:t>Complete road submergence. Edge cost becomes infinite; Dijkstra excludes edge.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24128"/>
            <a:ext cx="12191695" cy="4572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73152"/>
            <a:ext cx="868680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FFFFFF"/>
                </a:solidFill>
                <a:latin typeface="Segoe UI"/>
              </a:defRPr>
            </a:pPr>
            <a:r>
              <a:t>5. Stage 1 Demonstration Results &amp; Map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21792"/>
            <a:ext cx="8686800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0EA5E9"/>
                </a:solidFill>
                <a:latin typeface="Calibri"/>
              </a:defRPr>
            </a:pPr>
            <a:r>
              <a:t>Visual proof of Dijkstra route switching after road disruption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601200" y="274320"/>
            <a:ext cx="1828800" cy="45720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EMPIRICAL RESULTS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640080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6446520"/>
            <a:ext cx="54864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100" b="1">
                <a:solidFill>
                  <a:srgbClr val="475569"/>
                </a:solidFill>
                <a:latin typeface="Calibri"/>
              </a:defRPr>
            </a:pPr>
            <a:r>
              <a:t>Rohit Michael Raj | Reg No: 24BCE5108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02575" y="6446520"/>
            <a:ext cx="36576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100">
                <a:solidFill>
                  <a:srgbClr val="475569"/>
                </a:solidFill>
                <a:latin typeface="Calibri"/>
              </a:defRPr>
            </a:pPr>
            <a:r>
              <a:t>Full Project | Slide 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1280160"/>
            <a:ext cx="5669280" cy="48463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stage1_before_after_rou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371600"/>
            <a:ext cx="5486400" cy="4663440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6583680" y="1280160"/>
            <a:ext cx="2468880" cy="12801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675120" y="1371600"/>
            <a:ext cx="2286000" cy="54864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75120" y="1463039"/>
            <a:ext cx="22860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2600" b="1">
                <a:solidFill>
                  <a:srgbClr val="7C3AED"/>
                </a:solidFill>
                <a:latin typeface="Segoe UI"/>
              </a:defRPr>
            </a:pPr>
            <a:r>
              <a:t>327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75120" y="2011680"/>
            <a:ext cx="2286000" cy="50291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200" b="1">
                <a:solidFill>
                  <a:srgbClr val="0F172A"/>
                </a:solidFill>
                <a:latin typeface="Calibri"/>
              </a:defRPr>
            </a:pPr>
            <a:r>
              <a:t>Flood Hotspot Points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44000" y="1280160"/>
            <a:ext cx="2316175" cy="12801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235440" y="1371600"/>
            <a:ext cx="2133295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235440" y="1463039"/>
            <a:ext cx="213329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2600" b="1">
                <a:solidFill>
                  <a:srgbClr val="0D9488"/>
                </a:solidFill>
                <a:latin typeface="Segoe UI"/>
              </a:defRPr>
            </a:pPr>
            <a:r>
              <a:t>15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35440" y="2011680"/>
            <a:ext cx="2133295" cy="50291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200" b="1">
                <a:solidFill>
                  <a:srgbClr val="0F172A"/>
                </a:solidFill>
                <a:latin typeface="Calibri"/>
              </a:defRPr>
            </a:pPr>
            <a:r>
              <a:t>Affected Road Edges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83680" y="2697480"/>
            <a:ext cx="2468880" cy="12801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675120" y="2788920"/>
            <a:ext cx="2286000" cy="54864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75120" y="2880360"/>
            <a:ext cx="22860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2600" b="1">
                <a:solidFill>
                  <a:srgbClr val="16A34A"/>
                </a:solidFill>
                <a:latin typeface="Segoe UI"/>
              </a:defRPr>
            </a:pPr>
            <a:r>
              <a:t>14.63s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75120" y="3429000"/>
            <a:ext cx="2286000" cy="50291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200" b="1">
                <a:solidFill>
                  <a:srgbClr val="0F172A"/>
                </a:solidFill>
                <a:latin typeface="Calibri"/>
              </a:defRPr>
            </a:pPr>
            <a:r>
              <a:t>Before Route Cost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144000" y="2697480"/>
            <a:ext cx="2316175" cy="12801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235440" y="2788920"/>
            <a:ext cx="2133295" cy="54864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235440" y="2880360"/>
            <a:ext cx="213329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2600" b="1">
                <a:solidFill>
                  <a:srgbClr val="DC2626"/>
                </a:solidFill>
                <a:latin typeface="Segoe UI"/>
              </a:defRPr>
            </a:pPr>
            <a:r>
              <a:t>34.61s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35440" y="3429000"/>
            <a:ext cx="2133295" cy="50291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200" b="1">
                <a:solidFill>
                  <a:srgbClr val="0F172A"/>
                </a:solidFill>
                <a:latin typeface="Calibri"/>
              </a:defRPr>
            </a:pPr>
            <a:r>
              <a:t>After Detour Cost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583680" y="4114800"/>
            <a:ext cx="4876495" cy="2011680"/>
          </a:xfrm>
          <a:prstGeom prst="roundRect">
            <a:avLst/>
          </a:prstGeom>
          <a:solidFill>
            <a:srgbClr val="EFF6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720840" y="4206240"/>
            <a:ext cx="460217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150">
                <a:solidFill>
                  <a:srgbClr val="2563EB"/>
                </a:solidFill>
              </a:rPr>
              <a:t>• Target Disrupted Edge: </a:t>
            </a:r>
            <a:r>
              <a:rPr sz="1100">
                <a:solidFill>
                  <a:srgbClr val="0F172A"/>
                </a:solidFill>
              </a:rPr>
              <a:t>Kannan Street segment (9992430988, 9992430963).</a:t>
            </a:r>
          </a:p>
          <a:p>
            <a:r>
              <a:rPr b="1" sz="1150">
                <a:solidFill>
                  <a:srgbClr val="2563EB"/>
                </a:solidFill>
              </a:rPr>
              <a:t>• Before Route Path: </a:t>
            </a:r>
            <a:r>
              <a:rPr sz="1100">
                <a:solidFill>
                  <a:srgbClr val="0F172A"/>
                </a:solidFill>
              </a:rPr>
              <a:t>Direct single-edge traversal (Nodes: 9992430988 -&gt; 9992430963).</a:t>
            </a:r>
          </a:p>
          <a:p>
            <a:r>
              <a:rPr b="1" sz="1150">
                <a:solidFill>
                  <a:srgbClr val="2563EB"/>
                </a:solidFill>
              </a:rPr>
              <a:t>• After Route Detour: </a:t>
            </a:r>
            <a:r>
              <a:rPr sz="1100">
                <a:solidFill>
                  <a:srgbClr val="0F172A"/>
                </a:solidFill>
              </a:rPr>
              <a:t>9-node alternate path via surrounding unflooded local streets.</a:t>
            </a:r>
          </a:p>
          <a:p>
            <a:r>
              <a:rPr b="1" sz="1150">
                <a:solidFill>
                  <a:srgbClr val="2563EB"/>
                </a:solidFill>
              </a:rPr>
              <a:t>• Routing Outcome: </a:t>
            </a:r>
            <a:r>
              <a:rPr sz="1100">
                <a:solidFill>
                  <a:srgbClr val="0F172A"/>
                </a:solidFill>
              </a:rPr>
              <a:t>Dijkstra successfully avoids blocked edge and finds minimal travel-time detour.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24128"/>
            <a:ext cx="12191695" cy="4572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73152"/>
            <a:ext cx="868680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FFFFFF"/>
                </a:solidFill>
                <a:latin typeface="Segoe UI"/>
              </a:defRPr>
            </a:pPr>
            <a:r>
              <a:t>6. Code Architecture, Output Artifacts &amp; Test Suite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21792"/>
            <a:ext cx="8686800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0EA5E9"/>
                </a:solidFill>
                <a:latin typeface="Calibri"/>
              </a:defRPr>
            </a:pPr>
            <a:r>
              <a:t>Clean modular repository design supported by automated unit tests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601200" y="274320"/>
            <a:ext cx="1828800" cy="45720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VALIDATION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640080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6446520"/>
            <a:ext cx="54864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100" b="1">
                <a:solidFill>
                  <a:srgbClr val="475569"/>
                </a:solidFill>
                <a:latin typeface="Calibri"/>
              </a:defRPr>
            </a:pPr>
            <a:r>
              <a:t>Rohit Michael Raj | Reg No: 24BCE5108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02575" y="6446520"/>
            <a:ext cx="36576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100">
                <a:solidFill>
                  <a:srgbClr val="475569"/>
                </a:solidFill>
                <a:latin typeface="Calibri"/>
              </a:defRPr>
            </a:pPr>
            <a:r>
              <a:t>Full Project | Slide 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1280160"/>
            <a:ext cx="3328416" cy="47548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31520" y="1280160"/>
            <a:ext cx="3328416" cy="45720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Modular Code Engine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1874519"/>
            <a:ext cx="3054096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• src/chennai_routing/data/</a:t>
            </a:r>
            <a:br/>
            <a:r>
              <a:t>  - flood.py: KML parser &amp; downloader</a:t>
            </a:r>
            <a:br/>
            <a:r>
              <a:t>  - osm.py: OSMnx road graph loader</a:t>
            </a:r>
            <a:br/>
            <a:br/>
            <a:r>
              <a:t>• src/chennai_routing/preprocessing/</a:t>
            </a:r>
            <a:br/>
            <a:r>
              <a:t>  - geospatial.py: CRS &amp; KDTree mapper</a:t>
            </a:r>
            <a:br/>
            <a:br/>
            <a:r>
              <a:t>• src/chennai_routing/models/</a:t>
            </a:r>
            <a:br/>
            <a:r>
              <a:t>  - capacity.py: Road state multipliers</a:t>
            </a:r>
            <a:br/>
            <a:r>
              <a:t>  - bpr.py: BPR cost function engine</a:t>
            </a:r>
            <a:br/>
            <a:br/>
            <a:r>
              <a:t>• src/chennai_routing/routing/</a:t>
            </a:r>
            <a:br/>
            <a:r>
              <a:t>  - dijkstra.py: Dynamic shortest path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25696" y="1280160"/>
            <a:ext cx="3328416" cy="47548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425696" y="1280160"/>
            <a:ext cx="3328416" cy="45720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Generated Output Artifacts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62856" y="1874519"/>
            <a:ext cx="3054096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• outputs/tables/stage1_affected_roads.csv</a:t>
            </a:r>
            <a:br/>
            <a:r>
              <a:t>  Contains list of all 15 mapped affected edge IDs and coordinates.</a:t>
            </a:r>
            <a:br/>
            <a:br/>
            <a:r>
              <a:t>• outputs/tables/stage1_route_summary.csv</a:t>
            </a:r>
            <a:br/>
            <a:r>
              <a:t>  Before vs after route node sequences &amp; travel-time costs.</a:t>
            </a:r>
            <a:br/>
            <a:br/>
            <a:r>
              <a:t>• outputs/tables/stage1_summary.json</a:t>
            </a:r>
            <a:br/>
            <a:r>
              <a:t>  Machine-readable execution metrics.</a:t>
            </a:r>
            <a:br/>
            <a:br/>
            <a:r>
              <a:t>• outputs/maps/stage1_before_after_route.png</a:t>
            </a:r>
            <a:br/>
            <a:r>
              <a:t>  High-resolution route comparison map.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19872" y="1280160"/>
            <a:ext cx="3328416" cy="4754880"/>
          </a:xfrm>
          <a:prstGeom prst="roundRect">
            <a:avLst/>
          </a:prstGeom>
          <a:solidFill>
            <a:srgbClr val="EFF6FF"/>
          </a:solidFill>
          <a:ln w="1905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119872" y="1280160"/>
            <a:ext cx="3328416" cy="457200"/>
          </a:xfrm>
          <a:prstGeom prst="round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Automated Test Suite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65592" y="1828800"/>
            <a:ext cx="3236976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16A34A"/>
                </a:solidFill>
                <a:latin typeface="Segoe UI"/>
              </a:defRPr>
            </a:pPr>
            <a:r>
              <a:t>6 / 6 PASSED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57031" y="2606040"/>
            <a:ext cx="3054096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Pytest suite verifies:</a:t>
            </a:r>
            <a:br/>
            <a:br/>
            <a:r>
              <a:t>1. CRS Mismatch Protection</a:t>
            </a:r>
            <a:br/>
            <a:r>
              <a:t>2. Spatial Nearest Edge Mapping</a:t>
            </a:r>
            <a:br/>
            <a:r>
              <a:t>3. BPR Capacity Degradation</a:t>
            </a:r>
            <a:br/>
            <a:r>
              <a:t>4. Blocked Edge Exclusion</a:t>
            </a:r>
            <a:br/>
            <a:r>
              <a:t>5. Synthetic Graph Route Switching</a:t>
            </a:r>
            <a:br/>
            <a:r>
              <a:t>6. Repository File Structure Integrity</a:t>
            </a:r>
            <a:br/>
            <a:br/>
            <a:r>
              <a:t>Verified command:</a:t>
            </a:r>
            <a:br/>
            <a:r>
              <a:t>pytest tests/test_stage1_poc.py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24128"/>
            <a:ext cx="12191695" cy="4572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73152"/>
            <a:ext cx="868680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FFFFFF"/>
                </a:solidFill>
                <a:latin typeface="Segoe UI"/>
              </a:defRPr>
            </a:pPr>
            <a:r>
              <a:t>7. Multi-Factor Disruption Matrix: Factors Considered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21792"/>
            <a:ext cx="8686800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0EA5E9"/>
                </a:solidFill>
                <a:latin typeface="Calibri"/>
              </a:defRPr>
            </a:pPr>
            <a:r>
              <a:t>Comprehensive categorization of road, flood, traffic, and emergency variables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601200" y="274320"/>
            <a:ext cx="1828800" cy="45720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MULTI-FACTOR ANALYSIS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640080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6446520"/>
            <a:ext cx="54864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100" b="1">
                <a:solidFill>
                  <a:srgbClr val="475569"/>
                </a:solidFill>
                <a:latin typeface="Calibri"/>
              </a:defRPr>
            </a:pPr>
            <a:r>
              <a:t>Rohit Michael Raj | Reg No: 24BCE5108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02575" y="6446520"/>
            <a:ext cx="36576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100">
                <a:solidFill>
                  <a:srgbClr val="475569"/>
                </a:solidFill>
                <a:latin typeface="Calibri"/>
              </a:defRPr>
            </a:pPr>
            <a:r>
              <a:t>Full Project | Slide 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1280160"/>
            <a:ext cx="2514600" cy="48463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31520" y="1280160"/>
            <a:ext cx="2514600" cy="45720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ROAD FACTORS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" y="1874519"/>
            <a:ext cx="2295144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2563EB"/>
                </a:solidFill>
                <a:latin typeface="Segoe UI"/>
              </a:defRPr>
            </a:pPr>
            <a:r>
              <a:t>Network Geometry</a:t>
            </a:r>
          </a:p>
          <a:p>
            <a:r>
              <a:rPr b="1">
                <a:solidFill>
                  <a:srgbClr val="2563EB"/>
                </a:solidFill>
              </a:rPr>
              <a:t>• </a:t>
            </a:r>
            <a:r>
              <a:rPr sz="1100">
                <a:solidFill>
                  <a:srgbClr val="0F172A"/>
                </a:solidFill>
              </a:rPr>
              <a:t>Edge Length (meters)</a:t>
            </a:r>
          </a:p>
          <a:p>
            <a:r>
              <a:rPr b="1">
                <a:solidFill>
                  <a:srgbClr val="2563EB"/>
                </a:solidFill>
              </a:rPr>
              <a:t>• </a:t>
            </a:r>
            <a:r>
              <a:rPr sz="1100">
                <a:solidFill>
                  <a:srgbClr val="0F172A"/>
                </a:solidFill>
              </a:rPr>
              <a:t>Functional Highway Class</a:t>
            </a:r>
          </a:p>
          <a:p>
            <a:r>
              <a:rPr b="1">
                <a:solidFill>
                  <a:srgbClr val="2563EB"/>
                </a:solidFill>
              </a:rPr>
              <a:t>• </a:t>
            </a:r>
            <a:r>
              <a:rPr sz="1100">
                <a:solidFill>
                  <a:srgbClr val="0F172A"/>
                </a:solidFill>
              </a:rPr>
              <a:t>Speed Limit (km/h)</a:t>
            </a:r>
          </a:p>
          <a:p>
            <a:r>
              <a:rPr b="1">
                <a:solidFill>
                  <a:srgbClr val="2563EB"/>
                </a:solidFill>
              </a:rPr>
              <a:t>• </a:t>
            </a:r>
            <a:r>
              <a:rPr sz="1100">
                <a:solidFill>
                  <a:srgbClr val="0F172A"/>
                </a:solidFill>
              </a:rPr>
              <a:t>Number of Lanes</a:t>
            </a:r>
          </a:p>
          <a:p>
            <a:r>
              <a:rPr b="1">
                <a:solidFill>
                  <a:srgbClr val="2563EB"/>
                </a:solidFill>
              </a:rPr>
              <a:t>• </a:t>
            </a:r>
            <a:r>
              <a:rPr sz="1100">
                <a:solidFill>
                  <a:srgbClr val="0F172A"/>
                </a:solidFill>
              </a:rPr>
              <a:t>Node Intersections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465576" y="1280160"/>
            <a:ext cx="2514600" cy="48463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3465576" y="1280160"/>
            <a:ext cx="2514600" cy="45720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FLOOD FACTORS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75304" y="1874519"/>
            <a:ext cx="2295144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7C3AED"/>
                </a:solidFill>
                <a:latin typeface="Segoe UI"/>
              </a:defRPr>
            </a:pPr>
            <a:r>
              <a:t>Waterlogging Hazard</a:t>
            </a:r>
          </a:p>
          <a:p>
            <a:r>
              <a:rPr b="1">
                <a:solidFill>
                  <a:srgbClr val="7C3AED"/>
                </a:solidFill>
              </a:rPr>
              <a:t>• </a:t>
            </a:r>
            <a:r>
              <a:rPr sz="1100">
                <a:solidFill>
                  <a:srgbClr val="0F172A"/>
                </a:solidFill>
              </a:rPr>
              <a:t>Historical Hotspots KML</a:t>
            </a:r>
          </a:p>
          <a:p>
            <a:r>
              <a:rPr b="1">
                <a:solidFill>
                  <a:srgbClr val="7C3AED"/>
                </a:solidFill>
              </a:rPr>
              <a:t>• </a:t>
            </a:r>
            <a:r>
              <a:rPr sz="1100">
                <a:solidFill>
                  <a:srgbClr val="0F172A"/>
                </a:solidFill>
              </a:rPr>
              <a:t>SRTM Elevation &amp; Slope</a:t>
            </a:r>
          </a:p>
          <a:p>
            <a:r>
              <a:rPr b="1">
                <a:solidFill>
                  <a:srgbClr val="7C3AED"/>
                </a:solidFill>
              </a:rPr>
              <a:t>• </a:t>
            </a:r>
            <a:r>
              <a:rPr sz="1100">
                <a:solidFill>
                  <a:srgbClr val="0F172A"/>
                </a:solidFill>
              </a:rPr>
              <a:t>HAND Hydrology Index</a:t>
            </a:r>
          </a:p>
          <a:p>
            <a:r>
              <a:rPr b="1">
                <a:solidFill>
                  <a:srgbClr val="7C3AED"/>
                </a:solidFill>
              </a:rPr>
              <a:t>• </a:t>
            </a:r>
            <a:r>
              <a:rPr sz="1100">
                <a:solidFill>
                  <a:srgbClr val="0F172A"/>
                </a:solidFill>
              </a:rPr>
              <a:t>GPM Rainfall Intensity</a:t>
            </a:r>
          </a:p>
          <a:p>
            <a:r>
              <a:rPr b="1">
                <a:solidFill>
                  <a:srgbClr val="7C3AED"/>
                </a:solidFill>
              </a:rPr>
              <a:t>• </a:t>
            </a:r>
            <a:r>
              <a:rPr sz="1100">
                <a:solidFill>
                  <a:srgbClr val="0F172A"/>
                </a:solidFill>
              </a:rPr>
              <a:t>Water Depth / State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99632" y="1280160"/>
            <a:ext cx="2514600" cy="48463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199632" y="1280160"/>
            <a:ext cx="2514600" cy="457200"/>
          </a:xfrm>
          <a:prstGeom prst="round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TRAFFIC FACTORS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9360" y="1874519"/>
            <a:ext cx="2295144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D97706"/>
                </a:solidFill>
                <a:latin typeface="Segoe UI"/>
              </a:defRPr>
            </a:pPr>
            <a:r>
              <a:t>Congestion &amp; Flow</a:t>
            </a:r>
          </a:p>
          <a:p>
            <a:r>
              <a:rPr b="1">
                <a:solidFill>
                  <a:srgbClr val="D97706"/>
                </a:solidFill>
              </a:rPr>
              <a:t>• </a:t>
            </a:r>
            <a:r>
              <a:rPr sz="1100">
                <a:solidFill>
                  <a:srgbClr val="0F172A"/>
                </a:solidFill>
              </a:rPr>
              <a:t>Vehicle Volume (V)</a:t>
            </a:r>
          </a:p>
          <a:p>
            <a:r>
              <a:rPr b="1">
                <a:solidFill>
                  <a:srgbClr val="D97706"/>
                </a:solidFill>
              </a:rPr>
              <a:t>• </a:t>
            </a:r>
            <a:r>
              <a:rPr sz="1100">
                <a:solidFill>
                  <a:srgbClr val="0F172A"/>
                </a:solidFill>
              </a:rPr>
              <a:t>Nominal Capacity (C_0)</a:t>
            </a:r>
          </a:p>
          <a:p>
            <a:r>
              <a:rPr b="1">
                <a:solidFill>
                  <a:srgbClr val="D97706"/>
                </a:solidFill>
              </a:rPr>
              <a:t>• </a:t>
            </a:r>
            <a:r>
              <a:rPr sz="1100">
                <a:solidFill>
                  <a:srgbClr val="0F172A"/>
                </a:solidFill>
              </a:rPr>
              <a:t>Volume/Capacity Ratio</a:t>
            </a:r>
          </a:p>
          <a:p>
            <a:r>
              <a:rPr b="1">
                <a:solidFill>
                  <a:srgbClr val="D97706"/>
                </a:solidFill>
              </a:rPr>
              <a:t>• </a:t>
            </a:r>
            <a:r>
              <a:rPr sz="1100">
                <a:solidFill>
                  <a:srgbClr val="0F172A"/>
                </a:solidFill>
              </a:rPr>
              <a:t>BPR Travel Time Delay</a:t>
            </a:r>
          </a:p>
          <a:p>
            <a:r>
              <a:rPr b="1">
                <a:solidFill>
                  <a:srgbClr val="D97706"/>
                </a:solidFill>
              </a:rPr>
              <a:t>• </a:t>
            </a:r>
            <a:r>
              <a:rPr sz="1100">
                <a:solidFill>
                  <a:srgbClr val="0F172A"/>
                </a:solidFill>
              </a:rPr>
              <a:t>Corridor Bottlenecks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933688" y="1280160"/>
            <a:ext cx="2514600" cy="48463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933688" y="1280160"/>
            <a:ext cx="2514600" cy="457200"/>
          </a:xfrm>
          <a:prstGeom prst="round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INCIDENT FACTORS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43416" y="1874519"/>
            <a:ext cx="2295144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DC2626"/>
                </a:solidFill>
                <a:latin typeface="Segoe UI"/>
              </a:defRPr>
            </a:pPr>
            <a:r>
              <a:t>Emergency &amp; Safety</a:t>
            </a:r>
          </a:p>
          <a:p>
            <a:r>
              <a:rPr b="1">
                <a:solidFill>
                  <a:srgbClr val="DC2626"/>
                </a:solidFill>
              </a:rPr>
              <a:t>• </a:t>
            </a:r>
            <a:r>
              <a:rPr sz="1100">
                <a:solidFill>
                  <a:srgbClr val="0F172A"/>
                </a:solidFill>
              </a:rPr>
              <a:t>Unplanned Road Blockages</a:t>
            </a:r>
          </a:p>
          <a:p>
            <a:r>
              <a:rPr b="1">
                <a:solidFill>
                  <a:srgbClr val="DC2626"/>
                </a:solidFill>
              </a:rPr>
              <a:t>• </a:t>
            </a:r>
            <a:r>
              <a:rPr sz="1100">
                <a:solidFill>
                  <a:srgbClr val="0F172A"/>
                </a:solidFill>
              </a:rPr>
              <a:t>Accident Obstructions</a:t>
            </a:r>
          </a:p>
          <a:p>
            <a:r>
              <a:rPr b="1">
                <a:solidFill>
                  <a:srgbClr val="DC2626"/>
                </a:solidFill>
              </a:rPr>
              <a:t>• </a:t>
            </a:r>
            <a:r>
              <a:rPr sz="1100">
                <a:solidFill>
                  <a:srgbClr val="0F172A"/>
                </a:solidFill>
              </a:rPr>
              <a:t>Emergency Priority Level</a:t>
            </a:r>
          </a:p>
          <a:p>
            <a:r>
              <a:rPr b="1">
                <a:solidFill>
                  <a:srgbClr val="DC2626"/>
                </a:solidFill>
              </a:rPr>
              <a:t>• </a:t>
            </a:r>
            <a:r>
              <a:rPr sz="1100">
                <a:solidFill>
                  <a:srgbClr val="0F172A"/>
                </a:solidFill>
              </a:rPr>
              <a:t>Reserved Lane Override</a:t>
            </a:r>
          </a:p>
          <a:p>
            <a:r>
              <a:rPr b="1">
                <a:solidFill>
                  <a:srgbClr val="DC2626"/>
                </a:solidFill>
              </a:rPr>
              <a:t>• </a:t>
            </a:r>
            <a:r>
              <a:rPr sz="1100">
                <a:solidFill>
                  <a:srgbClr val="0F172A"/>
                </a:solidFill>
              </a:rPr>
              <a:t>Safety Exclusion Zones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24128"/>
            <a:ext cx="12191695" cy="4572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73152"/>
            <a:ext cx="868680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FFFFFF"/>
                </a:solidFill>
                <a:latin typeface="Segoe UI"/>
              </a:defRPr>
            </a:pPr>
            <a:r>
              <a:t>8. Master 10-Stage Project Implementation Roadmap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21792"/>
            <a:ext cx="8686800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0EA5E9"/>
                </a:solidFill>
                <a:latin typeface="Calibri"/>
              </a:defRPr>
            </a:pPr>
            <a:r>
              <a:t>Phased implementation plan from proof of concept to full SUMO evaluation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601200" y="274320"/>
            <a:ext cx="1828800" cy="45720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ROADMAP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640080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6446520"/>
            <a:ext cx="54864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100" b="1">
                <a:solidFill>
                  <a:srgbClr val="475569"/>
                </a:solidFill>
                <a:latin typeface="Calibri"/>
              </a:defRPr>
            </a:pPr>
            <a:r>
              <a:t>Rohit Michael Raj | Reg No: 24BCE5108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02575" y="6446520"/>
            <a:ext cx="36576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100">
                <a:solidFill>
                  <a:srgbClr val="475569"/>
                </a:solidFill>
                <a:latin typeface="Calibri"/>
              </a:defRPr>
            </a:pPr>
            <a:r>
              <a:t>Full Project | Slide 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1280160"/>
            <a:ext cx="10728655" cy="8686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31520" y="1280160"/>
            <a:ext cx="137160" cy="86868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1353312"/>
            <a:ext cx="10362895" cy="722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6A34A"/>
                </a:solidFill>
                <a:latin typeface="Segoe UI"/>
              </a:defRPr>
            </a:pPr>
            <a:r>
              <a:t>STAGE 1: Proof of Concept (DONE)</a:t>
            </a:r>
          </a:p>
          <a:p>
            <a:pPr>
              <a:defRPr sz="1150">
                <a:solidFill>
                  <a:srgbClr val="0F172A"/>
                </a:solidFill>
                <a:latin typeface="Calibri"/>
              </a:defRPr>
            </a:pPr>
            <a:r>
              <a:t>Historical flood hotspot mapping to nearest road edges with Dijkstra rerouting.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2313432"/>
            <a:ext cx="10728655" cy="8686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31520" y="2313432"/>
            <a:ext cx="137160" cy="8686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5840" y="2386584"/>
            <a:ext cx="10362895" cy="722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2563EB"/>
                </a:solidFill>
                <a:latin typeface="Segoe UI"/>
              </a:defRPr>
            </a:pPr>
            <a:r>
              <a:t>STAGE 2: Robust Chennai Road Graph (NEXT)</a:t>
            </a:r>
          </a:p>
          <a:p>
            <a:pPr>
              <a:defRPr sz="1150">
                <a:solidFill>
                  <a:srgbClr val="0F172A"/>
                </a:solidFill>
                <a:latin typeface="Calibri"/>
              </a:defRPr>
            </a:pPr>
            <a:r>
              <a:t>Reusable road network module with functional highway hierarchy and graph persistence.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3346703"/>
            <a:ext cx="10728655" cy="8686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31520" y="3346703"/>
            <a:ext cx="137160" cy="86868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05840" y="3419856"/>
            <a:ext cx="10362895" cy="722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D9488"/>
                </a:solidFill>
                <a:latin typeface="Segoe UI"/>
              </a:defRPr>
            </a:pPr>
            <a:r>
              <a:t>STAGES 3-5: Flood Susceptibility &amp; Rainfall (PLANNED)</a:t>
            </a:r>
          </a:p>
          <a:p>
            <a:pPr>
              <a:defRPr sz="1150">
                <a:solidFill>
                  <a:srgbClr val="0F172A"/>
                </a:solidFill>
                <a:latin typeface="Calibri"/>
              </a:defRPr>
            </a:pPr>
            <a:r>
              <a:t>SRTM elevation, HAND hydrological index, and GPM IMERG rainfall-triggered road states.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4379975"/>
            <a:ext cx="10728655" cy="8686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31520" y="4379975"/>
            <a:ext cx="137160" cy="86868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05840" y="4453127"/>
            <a:ext cx="10362895" cy="722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7C3AED"/>
                </a:solidFill>
                <a:latin typeface="Segoe UI"/>
              </a:defRPr>
            </a:pPr>
            <a:r>
              <a:t>STAGES 6-7: Dynamic Routing &amp; Stability (PLANNED)</a:t>
            </a:r>
          </a:p>
          <a:p>
            <a:pPr>
              <a:defRPr sz="1150">
                <a:solidFill>
                  <a:srgbClr val="0F172A"/>
                </a:solidFill>
                <a:latin typeface="Calibri"/>
              </a:defRPr>
            </a:pPr>
            <a:r>
              <a:t>BPR dynamic edge cost engine, threshold-based rerouting, and hysteresis stability control.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1520" y="5413248"/>
            <a:ext cx="10728655" cy="8686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31520" y="5413248"/>
            <a:ext cx="137160" cy="86868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05840" y="5486400"/>
            <a:ext cx="10362895" cy="722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EA5E9"/>
                </a:solidFill>
                <a:latin typeface="Segoe UI"/>
              </a:defRPr>
            </a:pPr>
            <a:r>
              <a:t>STAGES 8-10: SUMO Simulation &amp; Evaluation (PLANNED)</a:t>
            </a:r>
          </a:p>
          <a:p>
            <a:pPr>
              <a:defRPr sz="1150">
                <a:solidFill>
                  <a:srgbClr val="0F172A"/>
                </a:solidFill>
                <a:latin typeface="Calibri"/>
              </a:defRPr>
            </a:pPr>
            <a:r>
              <a:t>SUMO traffic microsimulation, emergency fleet priority, and static vs dynamic evaluation.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24128"/>
            <a:ext cx="12191695" cy="4572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73152"/>
            <a:ext cx="868680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FFFFFF"/>
                </a:solidFill>
                <a:latin typeface="Segoe UI"/>
              </a:defRPr>
            </a:pPr>
            <a:r>
              <a:t>9. Core Novelty: Dynamic Routing vs Static Baseline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21792"/>
            <a:ext cx="8686800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0EA5E9"/>
                </a:solidFill>
                <a:latin typeface="Calibri"/>
              </a:defRPr>
            </a:pPr>
            <a:r>
              <a:t>Why dynamic capacity-based routing outperforms standard static GPS engines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601200" y="274320"/>
            <a:ext cx="1828800" cy="45720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COMPARATIVE ANALYSIS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640080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6446520"/>
            <a:ext cx="54864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100" b="1">
                <a:solidFill>
                  <a:srgbClr val="475569"/>
                </a:solidFill>
                <a:latin typeface="Calibri"/>
              </a:defRPr>
            </a:pPr>
            <a:r>
              <a:t>Rohit Michael Raj | Reg No: 24BCE5108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02575" y="6446520"/>
            <a:ext cx="36576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100">
                <a:solidFill>
                  <a:srgbClr val="475569"/>
                </a:solidFill>
                <a:latin typeface="Calibri"/>
              </a:defRPr>
            </a:pPr>
            <a:r>
              <a:t>Full Project | Slide 10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1280160"/>
            <a:ext cx="5120640" cy="36576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31520" y="1280160"/>
            <a:ext cx="5120640" cy="457200"/>
          </a:xfrm>
          <a:prstGeom prst="round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TRADITIONAL STATIC DIJKSTRA / GPS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1874519"/>
            <a:ext cx="484632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150">
                <a:solidFill>
                  <a:srgbClr val="DC2626"/>
                </a:solidFill>
              </a:rPr>
              <a:t>• Fixed Edge Weights: </a:t>
            </a:r>
            <a:r>
              <a:rPr sz="1050">
                <a:solidFill>
                  <a:srgbClr val="0F172A"/>
                </a:solidFill>
              </a:rPr>
              <a:t>Calculates route once using static physical distance and posted speed limit.
</a:t>
            </a:r>
          </a:p>
          <a:p>
            <a:r>
              <a:rPr b="1" sz="1150">
                <a:solidFill>
                  <a:srgbClr val="DC2626"/>
                </a:solidFill>
              </a:rPr>
              <a:t>• Weather Blindness: </a:t>
            </a:r>
            <a:r>
              <a:rPr sz="1050">
                <a:solidFill>
                  <a:srgbClr val="0F172A"/>
                </a:solidFill>
              </a:rPr>
              <a:t>Unaware of waterlogging, road submergence, or capacity collapse.
</a:t>
            </a:r>
          </a:p>
          <a:p>
            <a:r>
              <a:rPr b="1" sz="1150">
                <a:solidFill>
                  <a:srgbClr val="DC2626"/>
                </a:solidFill>
              </a:rPr>
              <a:t>• Congestion Cascade: </a:t>
            </a:r>
            <a:r>
              <a:rPr sz="1050">
                <a:solidFill>
                  <a:srgbClr val="0F172A"/>
                </a:solidFill>
              </a:rPr>
              <a:t>Directs multiple vehicles onto degraded corridors, causing severe traffic grids.
</a:t>
            </a:r>
          </a:p>
          <a:p>
            <a:r>
              <a:rPr b="1" sz="1150">
                <a:solidFill>
                  <a:srgbClr val="DC2626"/>
                </a:solidFill>
              </a:rPr>
              <a:t>• No Rerouting: </a:t>
            </a:r>
            <a:r>
              <a:rPr sz="1050">
                <a:solidFill>
                  <a:srgbClr val="0F172A"/>
                </a:solidFill>
              </a:rPr>
              <a:t>Vehicles become trapped in flooded segments without alternate guidance.
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39535" y="1280160"/>
            <a:ext cx="5120640" cy="3657600"/>
          </a:xfrm>
          <a:prstGeom prst="roundRect">
            <a:avLst/>
          </a:prstGeom>
          <a:solidFill>
            <a:srgbClr val="EFF6FF"/>
          </a:solidFill>
          <a:ln w="1905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339535" y="1280160"/>
            <a:ext cx="5120640" cy="457200"/>
          </a:xfrm>
          <a:prstGeom prst="round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OUR PROPOSED DYNAMIC FLOOD-AWARE ENGINE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76695" y="1874519"/>
            <a:ext cx="484632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150">
                <a:solidFill>
                  <a:srgbClr val="16A34A"/>
                </a:solidFill>
              </a:rPr>
              <a:t>• Dynamic BPR Weights: </a:t>
            </a:r>
            <a:r>
              <a:rPr sz="1050">
                <a:solidFill>
                  <a:srgbClr val="0F172A"/>
                </a:solidFill>
              </a:rPr>
              <a:t>Edge costs update continuously based on water state and volume/capacity ratio.
</a:t>
            </a:r>
          </a:p>
          <a:p>
            <a:r>
              <a:rPr b="1" sz="1150">
                <a:solidFill>
                  <a:srgbClr val="16A34A"/>
                </a:solidFill>
              </a:rPr>
              <a:t>• Flood Susceptibility Integration: </a:t>
            </a:r>
            <a:r>
              <a:rPr sz="1050">
                <a:solidFill>
                  <a:srgbClr val="0F172A"/>
                </a:solidFill>
              </a:rPr>
              <a:t>Combines rainfall &amp; elevation data to predict effective capacity collapse.
</a:t>
            </a:r>
          </a:p>
          <a:p>
            <a:r>
              <a:rPr b="1" sz="1150">
                <a:solidFill>
                  <a:srgbClr val="16A34A"/>
                </a:solidFill>
              </a:rPr>
              <a:t>• Adaptive Rerouting: </a:t>
            </a:r>
            <a:r>
              <a:rPr sz="1050">
                <a:solidFill>
                  <a:srgbClr val="0F172A"/>
                </a:solidFill>
              </a:rPr>
              <a:t>Recalculates detours before vehicles reach flooded bottlenecks.
</a:t>
            </a:r>
          </a:p>
          <a:p>
            <a:r>
              <a:rPr b="1" sz="1150">
                <a:solidFill>
                  <a:srgbClr val="16A34A"/>
                </a:solidFill>
              </a:rPr>
              <a:t>• Hysteresis Control: </a:t>
            </a:r>
            <a:r>
              <a:rPr sz="1050">
                <a:solidFill>
                  <a:srgbClr val="0F172A"/>
                </a:solidFill>
              </a:rPr>
              <a:t>Prevents rapid route oscillations and stabilizes network traffic flow.
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5120640"/>
            <a:ext cx="10728655" cy="1005840"/>
          </a:xfrm>
          <a:prstGeom prst="roundRect">
            <a:avLst/>
          </a:prstGeom>
          <a:solidFill>
            <a:srgbClr val="0A192F"/>
          </a:solidFill>
          <a:ln w="1905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5212080"/>
            <a:ext cx="103628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EA5E9"/>
                </a:solidFill>
                <a:latin typeface="Segoe UI"/>
              </a:defRPr>
            </a:pPr>
            <a:r>
              <a:t>CORE NOVELTY OF THIS PROJECT</a:t>
            </a:r>
          </a:p>
          <a:p>
            <a:pPr>
              <a:defRPr sz="1150">
                <a:solidFill>
                  <a:srgbClr val="FFFFFF"/>
                </a:solidFill>
                <a:latin typeface="Calibri"/>
              </a:defRPr>
            </a:pPr>
            <a:r>
              <a:t>The innovation lies in fusing Chennai-specific geospatial hydrology into a transport capacity model (BPR) to enable adaptive dynamic Dijkstra routing with hysteresis stability.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24128"/>
            <a:ext cx="12191695" cy="4572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73152"/>
            <a:ext cx="868680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FFFFFF"/>
                </a:solidFill>
                <a:latin typeface="Segoe UI"/>
              </a:defRPr>
            </a:pPr>
            <a:r>
              <a:t>10. Special Routing Rules: Emergency Vehicle Priority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21792"/>
            <a:ext cx="8686800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0EA5E9"/>
                </a:solidFill>
                <a:latin typeface="Calibri"/>
              </a:defRPr>
            </a:pPr>
            <a:r>
              <a:t>Dedicated priority rules for ambulances and disaster response fleets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601200" y="274320"/>
            <a:ext cx="1828800" cy="45720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EMERGENCY ROUTING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640080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6446520"/>
            <a:ext cx="54864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100" b="1">
                <a:solidFill>
                  <a:srgbClr val="475569"/>
                </a:solidFill>
                <a:latin typeface="Calibri"/>
              </a:defRPr>
            </a:pPr>
            <a:r>
              <a:t>Rohit Michael Raj | Reg No: 24BCE5108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02575" y="6446520"/>
            <a:ext cx="36576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100">
                <a:solidFill>
                  <a:srgbClr val="475569"/>
                </a:solidFill>
                <a:latin typeface="Calibri"/>
              </a:defRPr>
            </a:pPr>
            <a:r>
              <a:t>Full Project | Slide 11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1280160"/>
            <a:ext cx="3328416" cy="47548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31520" y="1280160"/>
            <a:ext cx="3328416" cy="45720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Standard Vehicles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1874519"/>
            <a:ext cx="3054096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• Subject to full BPR congestion delays as volume approaches capacity.</a:t>
            </a:r>
            <a:br/>
            <a:br/>
            <a:r>
              <a:t>• Rerouted around both flooded segments and high-density traffic bottlenecks.</a:t>
            </a:r>
            <a:br/>
            <a:br/>
            <a:r>
              <a:t>• Goal: Minimize overall network delay and prevent traffic congestion cascades.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25696" y="1280160"/>
            <a:ext cx="3328416" cy="4754880"/>
          </a:xfrm>
          <a:prstGeom prst="roundRect">
            <a:avLst/>
          </a:prstGeom>
          <a:solidFill>
            <a:srgbClr val="EFF6FF"/>
          </a:solidFill>
          <a:ln w="1905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425696" y="1280160"/>
            <a:ext cx="3328416" cy="457200"/>
          </a:xfrm>
          <a:prstGeom prst="round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Emergency Vehicles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62856" y="1874519"/>
            <a:ext cx="3054096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• Ambulances, fire trucks, and disaster response vehicles.</a:t>
            </a:r>
            <a:br/>
            <a:br/>
            <a:r>
              <a:t>• Zero Congestion Discount: Emergency priority rules assume sirens / signal preemption override standard traffic queues.</a:t>
            </a:r>
            <a:br/>
            <a:br/>
            <a:r>
              <a:t>• Goal: Absolute shortest travel time while strictly avoiding impassable BLOCKED flooded roads.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19872" y="1280160"/>
            <a:ext cx="3328416" cy="47548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119872" y="1280160"/>
            <a:ext cx="3328416" cy="45720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Safety Exclusion Rules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57031" y="1874519"/>
            <a:ext cx="3054096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• Severe flooded edges (water depth &gt; critical threshold) are marked strictly impassable even for emergency fleets.</a:t>
            </a:r>
            <a:br/>
            <a:br/>
            <a:r>
              <a:t>• Prevents emergency vehicle submersion or stranding.</a:t>
            </a:r>
            <a:br/>
            <a:br/>
            <a:r>
              <a:t>• Dynamic rerouting calculates emergency detours with high priority.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24128"/>
            <a:ext cx="12191695" cy="4572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73152"/>
            <a:ext cx="868680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FFFFFF"/>
                </a:solidFill>
                <a:latin typeface="Segoe UI"/>
              </a:defRPr>
            </a:pPr>
            <a:r>
              <a:t>11. Academic Honesty &amp; Scope Boundaries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21792"/>
            <a:ext cx="8686800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0EA5E9"/>
                </a:solidFill>
                <a:latin typeface="Calibri"/>
              </a:defRPr>
            </a:pPr>
            <a:r>
              <a:t>Explicit documentation of project scope, data nature, and model limits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601200" y="274320"/>
            <a:ext cx="1828800" cy="45720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RIGOR &amp; BOUNDARIES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640080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6446520"/>
            <a:ext cx="54864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100" b="1">
                <a:solidFill>
                  <a:srgbClr val="475569"/>
                </a:solidFill>
                <a:latin typeface="Calibri"/>
              </a:defRPr>
            </a:pPr>
            <a:r>
              <a:t>Rohit Michael Raj | Reg No: 24BCE5108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02575" y="6446520"/>
            <a:ext cx="36576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100">
                <a:solidFill>
                  <a:srgbClr val="475569"/>
                </a:solidFill>
                <a:latin typeface="Calibri"/>
              </a:defRPr>
            </a:pPr>
            <a:r>
              <a:t>Full Project | Slide 12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1280160"/>
            <a:ext cx="5120640" cy="21945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31520" y="1280160"/>
            <a:ext cx="5120640" cy="411480"/>
          </a:xfrm>
          <a:prstGeom prst="round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Historical Data Evidence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1783080"/>
            <a:ext cx="484632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• Flood hotspot data represents historical 2015 evidence from OpenCity.</a:t>
            </a:r>
            <a:br/>
            <a:r>
              <a:t>• It is NOT real-time live flood sensor telemetry.</a:t>
            </a:r>
            <a:br/>
            <a:r>
              <a:t>• Serves as spatial validation for algorithm behavior.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39535" y="1280160"/>
            <a:ext cx="5120640" cy="21945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339535" y="1280160"/>
            <a:ext cx="5120640" cy="41148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Transport Model Parameters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76695" y="1783080"/>
            <a:ext cx="484632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• BPR capacity parameters (C_0=1200, V=600) are transport engineering model parameters.</a:t>
            </a:r>
            <a:br/>
            <a:r>
              <a:t>• Future stages will calibrate parameters against empirical flow curves.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3840480"/>
            <a:ext cx="5120640" cy="21945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31520" y="3840480"/>
            <a:ext cx="5120640" cy="41148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SUMO Simulation Labelling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4343400"/>
            <a:ext cx="484632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• SUMO traffic flow simulations in later stages represent controlled synthetic scenario testing.</a:t>
            </a:r>
            <a:br/>
            <a:r>
              <a:t>• Accurately labeled as microsimulation experiments.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39535" y="3840480"/>
            <a:ext cx="5120640" cy="21945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339535" y="3840480"/>
            <a:ext cx="5120640" cy="411480"/>
          </a:xfrm>
          <a:prstGeom prst="round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Scope &amp; Novelty Definition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76695" y="4343400"/>
            <a:ext cx="484632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• We do not claim to invent Dijkstra.</a:t>
            </a:r>
            <a:br/>
            <a:r>
              <a:t>• The core project contribution is fusing Chennai geospatial hydrology into dynamic capacity-aware dynamic routing.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24128"/>
            <a:ext cx="12191695" cy="4572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73152"/>
            <a:ext cx="868680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FFFFFF"/>
                </a:solidFill>
                <a:latin typeface="Segoe UI"/>
              </a:defRPr>
            </a:pPr>
            <a:r>
              <a:t>12. Comprehensive Evaluation Framework &amp; Metrics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21792"/>
            <a:ext cx="8686800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0EA5E9"/>
                </a:solidFill>
                <a:latin typeface="Calibri"/>
              </a:defRPr>
            </a:pPr>
            <a:r>
              <a:t>Measuring performance improvements against static Dijkstra baseline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601200" y="274320"/>
            <a:ext cx="1828800" cy="45720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EVALUATION PLAN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640080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6446520"/>
            <a:ext cx="54864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100" b="1">
                <a:solidFill>
                  <a:srgbClr val="475569"/>
                </a:solidFill>
                <a:latin typeface="Calibri"/>
              </a:defRPr>
            </a:pPr>
            <a:r>
              <a:t>Rohit Michael Raj | Reg No: 24BCE5108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02575" y="6446520"/>
            <a:ext cx="36576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100">
                <a:solidFill>
                  <a:srgbClr val="475569"/>
                </a:solidFill>
                <a:latin typeface="Calibri"/>
              </a:defRPr>
            </a:pPr>
            <a:r>
              <a:t>Full Project | Slide 13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1280160"/>
            <a:ext cx="5120640" cy="13716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31520" y="1280160"/>
            <a:ext cx="137160" cy="137160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1371600"/>
            <a:ext cx="4754879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6A34A"/>
                </a:solidFill>
                <a:latin typeface="Segoe UI"/>
              </a:defRPr>
            </a:pPr>
            <a:r>
              <a:t>Average Travel Time (ATT)</a:t>
            </a:r>
          </a:p>
          <a:p>
            <a:pPr>
              <a:defRPr sz="1100">
                <a:solidFill>
                  <a:srgbClr val="0F172A"/>
                </a:solidFill>
                <a:latin typeface="Calibri"/>
              </a:defRPr>
            </a:pPr>
            <a:r>
              <a:t>Measures total trip duration reduction across network vehicle fleets.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39535" y="1280160"/>
            <a:ext cx="5120640" cy="13716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39535" y="1280160"/>
            <a:ext cx="137160" cy="13716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13855" y="1371600"/>
            <a:ext cx="4754879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2563EB"/>
                </a:solidFill>
                <a:latin typeface="Segoe UI"/>
              </a:defRPr>
            </a:pPr>
            <a:r>
              <a:t>Network Congestion Index (NCI)</a:t>
            </a:r>
          </a:p>
          <a:p>
            <a:pPr>
              <a:defRPr sz="1100">
                <a:solidFill>
                  <a:srgbClr val="0F172A"/>
                </a:solidFill>
                <a:latin typeface="Calibri"/>
              </a:defRPr>
            </a:pPr>
            <a:r>
              <a:t>Evaluates traffic volume distribution across alternate arterial corridors.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2880360"/>
            <a:ext cx="5120640" cy="13716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31520" y="2880360"/>
            <a:ext cx="137160" cy="13716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05840" y="2971800"/>
            <a:ext cx="4754879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DC2626"/>
                </a:solidFill>
                <a:latin typeface="Segoe UI"/>
              </a:defRPr>
            </a:pPr>
            <a:r>
              <a:t>Blocked-Road Avoidance Rate</a:t>
            </a:r>
          </a:p>
          <a:p>
            <a:pPr>
              <a:defRPr sz="1100">
                <a:solidFill>
                  <a:srgbClr val="0F172A"/>
                </a:solidFill>
                <a:latin typeface="Calibri"/>
              </a:defRPr>
            </a:pPr>
            <a:r>
              <a:t>Verifies 100% prevention of vehicles entering submerged BLOCKED edges.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39535" y="2880360"/>
            <a:ext cx="5120640" cy="13716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339535" y="2880360"/>
            <a:ext cx="137160" cy="13716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613855" y="2971800"/>
            <a:ext cx="4754879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7C3AED"/>
                </a:solidFill>
                <a:latin typeface="Segoe UI"/>
              </a:defRPr>
            </a:pPr>
            <a:r>
              <a:t>Route Stability Index (RSI)</a:t>
            </a:r>
          </a:p>
          <a:p>
            <a:pPr>
              <a:defRPr sz="1100">
                <a:solidFill>
                  <a:srgbClr val="0F172A"/>
                </a:solidFill>
                <a:latin typeface="Calibri"/>
              </a:defRPr>
            </a:pPr>
            <a:r>
              <a:t>Quantifies hysteresis performance to prevent unnecessary route switching.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535527" y="4480560"/>
            <a:ext cx="5120640" cy="13716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535527" y="4480560"/>
            <a:ext cx="137160" cy="13716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809847" y="4572000"/>
            <a:ext cx="4754879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D9488"/>
                </a:solidFill>
                <a:latin typeface="Segoe UI"/>
              </a:defRPr>
            </a:pPr>
            <a:r>
              <a:t>Emergency Response Time (ERT)</a:t>
            </a:r>
          </a:p>
          <a:p>
            <a:pPr>
              <a:defRPr sz="1100">
                <a:solidFill>
                  <a:srgbClr val="0F172A"/>
                </a:solidFill>
                <a:latin typeface="Calibri"/>
              </a:defRPr>
            </a:pPr>
            <a:r>
              <a:t>Measures speedup in emergency fleet dispatch under flood conditions.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24128"/>
            <a:ext cx="12191695" cy="4572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73152"/>
            <a:ext cx="868680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FFFFFF"/>
                </a:solidFill>
                <a:latin typeface="Segoe UI"/>
              </a:defRPr>
            </a:pPr>
            <a:r>
              <a:t>13. Master Summary &amp; Key Presentation Points for Ma'am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21792"/>
            <a:ext cx="8686800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0EA5E9"/>
                </a:solidFill>
                <a:latin typeface="Calibri"/>
              </a:defRPr>
            </a:pPr>
            <a:r>
              <a:t>Core summary points and student presenter details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601200" y="274320"/>
            <a:ext cx="1828800" cy="45720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SUMMARY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640080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6446520"/>
            <a:ext cx="54864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100" b="1">
                <a:solidFill>
                  <a:srgbClr val="475569"/>
                </a:solidFill>
                <a:latin typeface="Calibri"/>
              </a:defRPr>
            </a:pPr>
            <a:r>
              <a:t>Rohit Michael Raj | Reg No: 24BCE5108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02575" y="6446520"/>
            <a:ext cx="36576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100">
                <a:solidFill>
                  <a:srgbClr val="475569"/>
                </a:solidFill>
                <a:latin typeface="Calibri"/>
              </a:defRPr>
            </a:pPr>
            <a:r>
              <a:t>Full Project | Slide 14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1280160"/>
            <a:ext cx="6217920" cy="4754880"/>
          </a:xfrm>
          <a:prstGeom prst="roundRect">
            <a:avLst/>
          </a:prstGeom>
          <a:solidFill>
            <a:srgbClr val="EFF6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31520" y="1280160"/>
            <a:ext cx="6217920" cy="45720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KEY TALKING POINTS FOR FACULTY EVALUATION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1874519"/>
            <a:ext cx="59436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200">
                <a:solidFill>
                  <a:srgbClr val="2563EB"/>
                </a:solidFill>
              </a:rPr>
              <a:t>• Stage 1 Fully Accomplished: </a:t>
            </a:r>
            <a:r>
              <a:rPr sz="1100">
                <a:solidFill>
                  <a:srgbClr val="0F172A"/>
                </a:solidFill>
              </a:rPr>
              <a:t>Built and verified proof of concept combining OSM road graph with real OpenCity historical flood hotspots.
</a:t>
            </a:r>
          </a:p>
          <a:p>
            <a:r>
              <a:rPr b="1" sz="1200">
                <a:solidFill>
                  <a:srgbClr val="2563EB"/>
                </a:solidFill>
              </a:rPr>
              <a:t>• Transport Modelling Grounding: </a:t>
            </a:r>
            <a:r>
              <a:rPr sz="1100">
                <a:solidFill>
                  <a:srgbClr val="0F172A"/>
                </a:solidFill>
              </a:rPr>
              <a:t>Utilized capacity degradation (C_eff) and BPR travel-time equations rather than arbitrary penalty metrics.
</a:t>
            </a:r>
          </a:p>
          <a:p>
            <a:r>
              <a:rPr b="1" sz="1200">
                <a:solidFill>
                  <a:srgbClr val="2563EB"/>
                </a:solidFill>
              </a:rPr>
              <a:t>• Verified Route Detour: </a:t>
            </a:r>
            <a:r>
              <a:rPr sz="1100">
                <a:solidFill>
                  <a:srgbClr val="0F172A"/>
                </a:solidFill>
              </a:rPr>
              <a:t>Empirically demonstrated Dijkstra route switching from 14.63s to 34.61s with 6 passing pytest unit tests.
</a:t>
            </a:r>
          </a:p>
          <a:p>
            <a:r>
              <a:rPr b="1" sz="1200">
                <a:solidFill>
                  <a:srgbClr val="2563EB"/>
                </a:solidFill>
              </a:rPr>
              <a:t>• Clear 10-Stage Vision: </a:t>
            </a:r>
            <a:r>
              <a:rPr sz="1100">
                <a:solidFill>
                  <a:srgbClr val="0F172A"/>
                </a:solidFill>
              </a:rPr>
              <a:t>Structured roadmap leading to SRTM elevation, GPM rainfall, dynamic hysteresis control, and SUMO microsimulation.
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223760" y="1280160"/>
            <a:ext cx="4236415" cy="4754880"/>
          </a:xfrm>
          <a:prstGeom prst="roundRect">
            <a:avLst/>
          </a:prstGeom>
          <a:solidFill>
            <a:srgbClr val="0A192F"/>
          </a:solidFill>
          <a:ln w="1905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06640" y="1554480"/>
            <a:ext cx="3870655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EA5E9"/>
                </a:solidFill>
                <a:latin typeface="Segoe UI"/>
              </a:defRPr>
            </a:pPr>
            <a:r>
              <a:t>PROJECT CREDITS &amp; DETAILS</a:t>
            </a:r>
          </a:p>
          <a:p>
            <a:br/>
            <a:pPr>
              <a:defRPr sz="1200">
                <a:solidFill>
                  <a:srgbClr val="CBD5E1"/>
                </a:solidFill>
                <a:latin typeface="Calibri"/>
              </a:defRPr>
            </a:pPr>
            <a:r>
              <a:t>Student Name:</a:t>
            </a:r>
          </a:p>
          <a:p>
            <a:pPr>
              <a:defRPr sz="2200" b="1">
                <a:solidFill>
                  <a:srgbClr val="FFFFFF"/>
                </a:solidFill>
                <a:latin typeface="Segoe UI"/>
              </a:defRPr>
            </a:pPr>
            <a:r>
              <a:t>Rohit Michael Raj</a:t>
            </a:r>
          </a:p>
          <a:p>
            <a:br/>
            <a:pPr>
              <a:defRPr sz="1200">
                <a:solidFill>
                  <a:srgbClr val="CBD5E1"/>
                </a:solidFill>
                <a:latin typeface="Calibri"/>
              </a:defRPr>
            </a:pPr>
            <a:r>
              <a:t>Register Number:</a:t>
            </a:r>
          </a:p>
          <a:p>
            <a:pPr>
              <a:defRPr sz="2000" b="1">
                <a:solidFill>
                  <a:srgbClr val="0EA5E9"/>
                </a:solidFill>
                <a:latin typeface="Segoe UI"/>
              </a:defRPr>
            </a:pPr>
            <a:r>
              <a:t>24BCE5108</a:t>
            </a:r>
          </a:p>
          <a:p>
            <a:br/>
            <a:pPr>
              <a:defRPr sz="1200">
                <a:solidFill>
                  <a:srgbClr val="CBD5E1"/>
                </a:solidFill>
                <a:latin typeface="Calibri"/>
              </a:defRPr>
            </a:pPr>
            <a:r>
              <a:t>Project Title:</a:t>
            </a:r>
          </a:p>
          <a:p>
            <a:pPr>
              <a:defRPr sz="1300" b="1">
                <a:solidFill>
                  <a:srgbClr val="FFFFFF"/>
                </a:solidFill>
                <a:latin typeface="Calibri"/>
              </a:defRPr>
            </a:pPr>
            <a:r>
              <a:t>Chennai Flood- &amp; Congestion-Aware Dynamic Traffic Routing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